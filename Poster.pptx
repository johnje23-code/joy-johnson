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3"/>
  </p:notesMasterIdLst>
  <p:sldIdLst>
    <p:sldId id="291" r:id="rId2"/>
  </p:sldIdLst>
  <p:sldSz cx="43891200" cy="32918400"/>
  <p:notesSz cx="32462788" cy="43435588"/>
  <p:defaultTextStyle>
    <a:defPPr>
      <a:defRPr lang="en-US"/>
    </a:defPPr>
    <a:lvl1pPr algn="l" defTabSz="4387850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2193925" indent="-1736725" algn="l" defTabSz="4387850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4387850" indent="-3473450" algn="l" defTabSz="4387850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6581775" indent="-5210175" algn="l" defTabSz="4387850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8777288" indent="-6948488" algn="l" defTabSz="4387850" rtl="0" eaLnBrk="0" fontAlgn="base" hangingPunct="0">
      <a:spcBef>
        <a:spcPct val="0"/>
      </a:spcBef>
      <a:spcAft>
        <a:spcPct val="0"/>
      </a:spcAft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318">
          <p15:clr>
            <a:srgbClr val="A4A3A4"/>
          </p15:clr>
        </p15:guide>
        <p15:guide id="2" orient="horz" pos="288">
          <p15:clr>
            <a:srgbClr val="A4A3A4"/>
          </p15:clr>
        </p15:guide>
        <p15:guide id="3" orient="horz" pos="20160">
          <p15:clr>
            <a:srgbClr val="A4A3A4"/>
          </p15:clr>
        </p15:guide>
        <p15:guide id="4" orient="horz">
          <p15:clr>
            <a:srgbClr val="A4A3A4"/>
          </p15:clr>
        </p15:guide>
        <p15:guide id="5" pos="6758">
          <p15:clr>
            <a:srgbClr val="A4A3A4"/>
          </p15:clr>
        </p15:guide>
        <p15:guide id="6" pos="20904">
          <p15:clr>
            <a:srgbClr val="A4A3A4"/>
          </p15:clr>
        </p15:guide>
        <p15:guide id="7" pos="7082">
          <p15:clr>
            <a:srgbClr val="A4A3A4"/>
          </p15:clr>
        </p15:guide>
        <p15:guide id="8" pos="20582">
          <p15:clr>
            <a:srgbClr val="A4A3A4"/>
          </p15:clr>
        </p15:guide>
        <p15:guide id="9" pos="27330">
          <p15:clr>
            <a:srgbClr val="A4A3A4"/>
          </p15:clr>
        </p15:guide>
        <p15:guide id="10" pos="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3681">
          <p15:clr>
            <a:srgbClr val="A4A3A4"/>
          </p15:clr>
        </p15:guide>
        <p15:guide id="2" pos="102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430"/>
    <a:srgbClr val="F3C22B"/>
    <a:srgbClr val="E3E9E5"/>
    <a:srgbClr val="3B7193"/>
    <a:srgbClr val="2C556E"/>
    <a:srgbClr val="E7E7E5"/>
    <a:srgbClr val="E4E7E8"/>
    <a:srgbClr val="EDE8DF"/>
    <a:srgbClr val="E0E9E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52" autoAdjust="0"/>
    <p:restoredTop sz="93967" autoAdjust="0"/>
  </p:normalViewPr>
  <p:slideViewPr>
    <p:cSldViewPr snapToGrid="0" snapToObjects="1">
      <p:cViewPr varScale="1">
        <p:scale>
          <a:sx n="16" d="100"/>
          <a:sy n="16" d="100"/>
        </p:scale>
        <p:origin x="1157" y="91"/>
      </p:cViewPr>
      <p:guideLst>
        <p:guide orient="horz" pos="3318"/>
        <p:guide orient="horz" pos="288"/>
        <p:guide orient="horz" pos="20160"/>
        <p:guide orient="horz"/>
        <p:guide pos="6758"/>
        <p:guide pos="20904"/>
        <p:guide pos="7082"/>
        <p:guide pos="20582"/>
        <p:guide pos="27330"/>
        <p:guide pos="3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-3138" y="-108"/>
      </p:cViewPr>
      <p:guideLst>
        <p:guide orient="horz" pos="13681"/>
        <p:guide pos="1022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CD097D-B1AB-6A91-BD21-847D43D267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4066838" cy="2171700"/>
          </a:xfrm>
          <a:prstGeom prst="rect">
            <a:avLst/>
          </a:prstGeom>
        </p:spPr>
        <p:txBody>
          <a:bodyPr vert="horz" lIns="433700" tIns="216850" rIns="433700" bIns="216850" rtlCol="0"/>
          <a:lstStyle>
            <a:lvl1pPr algn="l" defTabSz="4388900" eaLnBrk="1" fontAlgn="auto" hangingPunct="1">
              <a:spcBef>
                <a:spcPts val="0"/>
              </a:spcBef>
              <a:spcAft>
                <a:spcPts val="0"/>
              </a:spcAft>
              <a:defRPr sz="57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E5925-69E1-93F1-26A9-78DEFF6BF2A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8388013" y="0"/>
            <a:ext cx="14066837" cy="2171700"/>
          </a:xfrm>
          <a:prstGeom prst="rect">
            <a:avLst/>
          </a:prstGeom>
        </p:spPr>
        <p:txBody>
          <a:bodyPr vert="horz" lIns="433700" tIns="216850" rIns="433700" bIns="216850" rtlCol="0"/>
          <a:lstStyle>
            <a:lvl1pPr algn="r" defTabSz="4388900" eaLnBrk="1" fontAlgn="auto" hangingPunct="1">
              <a:spcBef>
                <a:spcPts val="0"/>
              </a:spcBef>
              <a:spcAft>
                <a:spcPts val="0"/>
              </a:spcAft>
              <a:defRPr sz="5700">
                <a:latin typeface="+mn-lt"/>
                <a:cs typeface="+mn-cs"/>
              </a:defRPr>
            </a:lvl1pPr>
          </a:lstStyle>
          <a:p>
            <a:pPr>
              <a:defRPr/>
            </a:pPr>
            <a:fld id="{57418C76-CB18-4C94-9278-AFAD89B26EB9}" type="datetimeFigureOut">
              <a:rPr lang="en-US"/>
              <a:pPr>
                <a:defRPr/>
              </a:pPr>
              <a:t>11/30/2023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AD0979B-DF0D-BEF5-FF0F-34EADF804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73688" y="3257550"/>
            <a:ext cx="21715412" cy="16287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33700" tIns="216850" rIns="433700" bIns="21685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3B3D71-8CFD-1D67-BB74-5AAE0354C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46438" y="20631150"/>
            <a:ext cx="25969912" cy="19546888"/>
          </a:xfrm>
          <a:prstGeom prst="rect">
            <a:avLst/>
          </a:prstGeom>
        </p:spPr>
        <p:txBody>
          <a:bodyPr vert="horz" lIns="433700" tIns="216850" rIns="433700" bIns="21685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0F445-34FD-BE57-33F8-EB8E41D234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41255950"/>
            <a:ext cx="14066838" cy="2171700"/>
          </a:xfrm>
          <a:prstGeom prst="rect">
            <a:avLst/>
          </a:prstGeom>
        </p:spPr>
        <p:txBody>
          <a:bodyPr vert="horz" lIns="433700" tIns="216850" rIns="433700" bIns="216850" rtlCol="0" anchor="b"/>
          <a:lstStyle>
            <a:lvl1pPr algn="l" defTabSz="4388900" eaLnBrk="1" fontAlgn="auto" hangingPunct="1">
              <a:spcBef>
                <a:spcPts val="0"/>
              </a:spcBef>
              <a:spcAft>
                <a:spcPts val="0"/>
              </a:spcAft>
              <a:defRPr sz="57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A7C55-2CA7-E2B2-BB51-292B1ECD2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8388013" y="41255950"/>
            <a:ext cx="14066837" cy="2171700"/>
          </a:xfrm>
          <a:prstGeom prst="rect">
            <a:avLst/>
          </a:prstGeom>
        </p:spPr>
        <p:txBody>
          <a:bodyPr vert="horz" wrap="square" lIns="433700" tIns="216850" rIns="433700" bIns="21685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5700"/>
            </a:lvl1pPr>
          </a:lstStyle>
          <a:p>
            <a:fld id="{4A958455-F261-4470-AF2E-011455627C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3925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7850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1775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7288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2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7D813576-1117-9ABE-52E4-DEA8880B10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37C7E915-0EE6-DA72-9D9E-ED88F24766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06D0E3D0-A4F4-128F-0265-CE43B7DA7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387850" eaLnBrk="0" fontAlgn="base" hangingPunct="0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853D448-830E-4FEB-BA73-11C73A77869D}" type="slidenum">
              <a:rPr lang="en-US" altLang="en-US" sz="5700"/>
              <a:pPr/>
              <a:t>1</a:t>
            </a:fld>
            <a:endParaRPr lang="en-US" altLang="en-US" sz="57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4 columns">
    <p:bg>
      <p:bgPr>
        <a:solidFill>
          <a:srgbClr val="D9D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675" y="457202"/>
            <a:ext cx="21431250" cy="14478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27049" y="6021370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27049" y="5267325"/>
            <a:ext cx="10196513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3457575" y="12192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36147375" y="1219200"/>
            <a:ext cx="4419600" cy="2514600"/>
          </a:xfrm>
          <a:prstGeom prst="rect">
            <a:avLst/>
          </a:prstGeom>
        </p:spPr>
        <p:txBody>
          <a:bodyPr lIns="91436" tIns="45717" rIns="91436" bIns="45717" anchor="ctr"/>
          <a:lstStyle>
            <a:lvl1pPr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517525" y="14197507"/>
            <a:ext cx="10210799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252201" y="6021371"/>
            <a:ext cx="2142172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1242675" y="5267326"/>
            <a:ext cx="21431250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11252201" y="20505756"/>
            <a:ext cx="21421724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11252201" y="19751711"/>
            <a:ext cx="21421724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3185100" y="5267325"/>
            <a:ext cx="102012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33185099" y="6021370"/>
            <a:ext cx="10201275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3185098" y="14257357"/>
            <a:ext cx="102012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33185097" y="15011402"/>
            <a:ext cx="10201275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33185095" y="25679401"/>
            <a:ext cx="10201275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/>
          </p:nvPr>
        </p:nvSpPr>
        <p:spPr>
          <a:xfrm>
            <a:off x="33185096" y="26433446"/>
            <a:ext cx="10201275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/>
          </p:nvPr>
        </p:nvSpPr>
        <p:spPr>
          <a:xfrm>
            <a:off x="527049" y="14951552"/>
            <a:ext cx="10201275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/>
          <p:cNvSpPr>
            <a:spLocks noGrp="1"/>
          </p:cNvSpPr>
          <p:nvPr>
            <p:ph type="body" sz="quarter" idx="125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1" name="Picture Placeholder 13"/>
          <p:cNvSpPr>
            <a:spLocks noGrp="1"/>
          </p:cNvSpPr>
          <p:nvPr>
            <p:ph type="pic" sz="quarter" idx="135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7" name="Text Placeholder 76"/>
          <p:cNvSpPr>
            <a:spLocks noGrp="1"/>
          </p:cNvSpPr>
          <p:nvPr>
            <p:ph type="body" sz="quarter" idx="150"/>
          </p:nvPr>
        </p:nvSpPr>
        <p:spPr>
          <a:xfrm>
            <a:off x="11252201" y="3185162"/>
            <a:ext cx="21421724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5400">
                <a:solidFill>
                  <a:schemeClr val="bg2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76"/>
          <p:cNvSpPr>
            <a:spLocks noGrp="1"/>
          </p:cNvSpPr>
          <p:nvPr>
            <p:ph type="body" sz="quarter" idx="151"/>
          </p:nvPr>
        </p:nvSpPr>
        <p:spPr>
          <a:xfrm>
            <a:off x="11242675" y="1905002"/>
            <a:ext cx="21431250" cy="128016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7200">
                <a:solidFill>
                  <a:schemeClr val="bg2"/>
                </a:solidFill>
              </a:defRPr>
            </a:lvl1pPr>
            <a:lvl2pPr>
              <a:buFontTx/>
              <a:buNone/>
              <a:defRPr sz="7200"/>
            </a:lvl2pPr>
            <a:lvl3pPr>
              <a:buFontTx/>
              <a:buNone/>
              <a:defRPr sz="7200"/>
            </a:lvl3pPr>
            <a:lvl4pPr>
              <a:buFontTx/>
              <a:buNone/>
              <a:defRPr sz="7200"/>
            </a:lvl4pPr>
            <a:lvl5pPr>
              <a:buFontTx/>
              <a:buNone/>
              <a:defRPr sz="7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Picture Placeholder 13"/>
          <p:cNvSpPr>
            <a:spLocks noGrp="1"/>
          </p:cNvSpPr>
          <p:nvPr>
            <p:ph type="pic" sz="quarter" idx="152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9" name="Picture Placeholder 13"/>
          <p:cNvSpPr>
            <a:spLocks noGrp="1"/>
          </p:cNvSpPr>
          <p:nvPr>
            <p:ph type="pic" sz="quarter" idx="153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0" name="Picture Placeholder 13"/>
          <p:cNvSpPr>
            <a:spLocks noGrp="1"/>
          </p:cNvSpPr>
          <p:nvPr>
            <p:ph type="pic" sz="quarter" idx="154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1" name="Picture Placeholder 13"/>
          <p:cNvSpPr>
            <a:spLocks noGrp="1"/>
          </p:cNvSpPr>
          <p:nvPr>
            <p:ph type="pic" sz="quarter" idx="155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2" name="Picture Placeholder 13"/>
          <p:cNvSpPr>
            <a:spLocks noGrp="1"/>
          </p:cNvSpPr>
          <p:nvPr>
            <p:ph type="pic" sz="quarter" idx="156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8" name="Picture Placeholder 13"/>
          <p:cNvSpPr>
            <a:spLocks noGrp="1"/>
          </p:cNvSpPr>
          <p:nvPr>
            <p:ph type="pic" sz="quarter" idx="157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2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0" name="Picture Placeholder 13"/>
          <p:cNvSpPr>
            <a:spLocks noGrp="1"/>
          </p:cNvSpPr>
          <p:nvPr>
            <p:ph type="pic" sz="quarter" idx="158"/>
          </p:nvPr>
        </p:nvSpPr>
        <p:spPr>
          <a:xfrm>
            <a:off x="-9278981" y="25444381"/>
            <a:ext cx="6810102" cy="5103720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40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167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Text Placeholder 3"/>
          <p:cNvSpPr>
            <a:spLocks noGrp="1"/>
          </p:cNvSpPr>
          <p:nvPr>
            <p:ph type="body" sz="quarter" idx="168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Text Placeholder 3"/>
          <p:cNvSpPr>
            <a:spLocks noGrp="1"/>
          </p:cNvSpPr>
          <p:nvPr>
            <p:ph type="body" sz="quarter" idx="169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6" name="Text Placeholder 3"/>
          <p:cNvSpPr>
            <a:spLocks noGrp="1"/>
          </p:cNvSpPr>
          <p:nvPr>
            <p:ph type="body" sz="quarter" idx="170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Text Placeholder 3"/>
          <p:cNvSpPr>
            <a:spLocks noGrp="1"/>
          </p:cNvSpPr>
          <p:nvPr>
            <p:ph type="body" sz="quarter" idx="171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8" name="Text Placeholder 3"/>
          <p:cNvSpPr>
            <a:spLocks noGrp="1"/>
          </p:cNvSpPr>
          <p:nvPr>
            <p:ph type="body" sz="quarter" idx="172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3"/>
          <p:cNvSpPr>
            <a:spLocks noGrp="1"/>
          </p:cNvSpPr>
          <p:nvPr>
            <p:ph type="body" sz="quarter" idx="173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3"/>
          <p:cNvSpPr>
            <a:spLocks noGrp="1"/>
          </p:cNvSpPr>
          <p:nvPr>
            <p:ph type="body" sz="quarter" idx="174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3"/>
          <p:cNvSpPr>
            <a:spLocks noGrp="1"/>
          </p:cNvSpPr>
          <p:nvPr>
            <p:ph type="body" sz="quarter" idx="175"/>
          </p:nvPr>
        </p:nvSpPr>
        <p:spPr>
          <a:xfrm>
            <a:off x="-10855052" y="21783675"/>
            <a:ext cx="10196513" cy="846363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500" baseline="0">
                <a:latin typeface="Trebuchet MS" pitchFamily="34" charset="0"/>
              </a:defRPr>
            </a:lvl1pPr>
            <a:lvl2pPr marL="1485825" indent="-571471">
              <a:defRPr sz="2500">
                <a:latin typeface="Trebuchet MS" pitchFamily="34" charset="0"/>
              </a:defRPr>
            </a:lvl2pPr>
            <a:lvl3pPr marL="2057297" indent="-571471">
              <a:defRPr sz="2500">
                <a:latin typeface="Trebuchet MS" pitchFamily="34" charset="0"/>
              </a:defRPr>
            </a:lvl3pPr>
            <a:lvl4pPr marL="2685916" indent="-628619">
              <a:defRPr sz="2500">
                <a:latin typeface="Trebuchet MS" pitchFamily="34" charset="0"/>
              </a:defRPr>
            </a:lvl4pPr>
            <a:lvl5pPr marL="3143093" indent="-457177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4" name="Text Placeholder 5"/>
          <p:cNvSpPr>
            <a:spLocks noGrp="1"/>
          </p:cNvSpPr>
          <p:nvPr>
            <p:ph type="body" sz="quarter" idx="176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Text Placeholder 5"/>
          <p:cNvSpPr>
            <a:spLocks noGrp="1"/>
          </p:cNvSpPr>
          <p:nvPr>
            <p:ph type="body" sz="quarter" idx="177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6" name="Text Placeholder 5"/>
          <p:cNvSpPr>
            <a:spLocks noGrp="1"/>
          </p:cNvSpPr>
          <p:nvPr>
            <p:ph type="body" sz="quarter" idx="178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Text Placeholder 5"/>
          <p:cNvSpPr>
            <a:spLocks noGrp="1"/>
          </p:cNvSpPr>
          <p:nvPr>
            <p:ph type="body" sz="quarter" idx="179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8" name="Text Placeholder 5"/>
          <p:cNvSpPr>
            <a:spLocks noGrp="1"/>
          </p:cNvSpPr>
          <p:nvPr>
            <p:ph type="body" sz="quarter" idx="180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Text Placeholder 5"/>
          <p:cNvSpPr>
            <a:spLocks noGrp="1"/>
          </p:cNvSpPr>
          <p:nvPr>
            <p:ph type="body" sz="quarter" idx="181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" name="Text Placeholder 5"/>
          <p:cNvSpPr>
            <a:spLocks noGrp="1"/>
          </p:cNvSpPr>
          <p:nvPr>
            <p:ph type="body" sz="quarter" idx="182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2" name="Text Placeholder 5"/>
          <p:cNvSpPr>
            <a:spLocks noGrp="1"/>
          </p:cNvSpPr>
          <p:nvPr>
            <p:ph type="body" sz="quarter" idx="183"/>
          </p:nvPr>
        </p:nvSpPr>
        <p:spPr>
          <a:xfrm>
            <a:off x="-10857229" y="18823494"/>
            <a:ext cx="10196512" cy="75404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algn="ctr">
              <a:buNone/>
              <a:defRPr sz="37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512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hyperlink" Target="http://www.facebook.com/pages/PosterPresentationscom/217914411419?v=app_4949752878&amp;ref=ts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3E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6B6E223-3E1F-F316-FB40-661A4718BE44}"/>
              </a:ext>
            </a:extLst>
          </p:cNvPr>
          <p:cNvSpPr/>
          <p:nvPr/>
        </p:nvSpPr>
        <p:spPr>
          <a:xfrm>
            <a:off x="44542075" y="0"/>
            <a:ext cx="10050463" cy="32918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/>
          <a:lstStyle>
            <a:lvl1pPr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Trebuchet MS" panose="020B0603020202020204" pitchFamily="34" charset="0"/>
              </a:rPr>
              <a:t>QUICK TIPS</a:t>
            </a:r>
          </a:p>
          <a:p>
            <a:pPr algn="ctr" eaLnBrk="1" hangingPunct="1">
              <a:defRPr/>
            </a:pPr>
            <a:r>
              <a:rPr lang="en-US" altLang="en-US" sz="4000" b="1" dirty="0">
                <a:solidFill>
                  <a:srgbClr val="FFFF00"/>
                </a:solidFill>
                <a:latin typeface="Trebuchet MS" panose="020B0603020202020204" pitchFamily="34" charset="0"/>
              </a:rPr>
              <a:t>(--THIS SECTION DOES NOT PRINT--)</a:t>
            </a:r>
          </a:p>
          <a:p>
            <a:pPr algn="ctr" eaLnBrk="1" hangingPunct="1">
              <a:defRPr/>
            </a:pPr>
            <a:endParaRPr lang="en-US" altLang="en-US" sz="3200" b="1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This PowerPoint template requires basic PowerPoint (version 2007 or newer) skills. Below is a list of commonly asked questions specific to this template. </a:t>
            </a:r>
            <a:b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</a:b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If you are using an older version of PowerPoint some template features may not work properly.</a:t>
            </a:r>
            <a:endParaRPr lang="en-US" altLang="en-US" sz="40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endParaRPr lang="en-US" altLang="en-US" sz="40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  <a:p>
            <a:pPr algn="ctr" eaLnBrk="1" hangingPunct="1"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Trebuchet MS" panose="020B0603020202020204" pitchFamily="34" charset="0"/>
              </a:rPr>
              <a:t>Using the template</a:t>
            </a:r>
          </a:p>
          <a:p>
            <a:pPr algn="ctr" eaLnBrk="1" hangingPunct="1">
              <a:defRPr/>
            </a:pPr>
            <a:endParaRPr lang="en-US" alt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r>
              <a:rPr lang="en-US" altLang="en-US" sz="3200" b="1" dirty="0">
                <a:solidFill>
                  <a:srgbClr val="FFFF00"/>
                </a:solidFill>
                <a:latin typeface="Trebuchet MS" panose="020B0603020202020204" pitchFamily="34" charset="0"/>
              </a:rPr>
              <a:t>Verifying the quality of your graphics</a:t>
            </a: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Go to the VIEW menu and click on ZOOM to set your preferred magnification. This template is at 100% the size of the final poster. All text and graphics will be printed at 100% their size. To see what your poster will look like when printed, set the zoom to 100% and evaluate the quality of all your graphics before you submit your poster for printing.</a:t>
            </a:r>
            <a:b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</a:br>
            <a:endParaRPr lang="en-US" altLang="en-US" sz="32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r>
              <a:rPr lang="en-US" altLang="en-US" sz="3200" b="1" dirty="0">
                <a:solidFill>
                  <a:srgbClr val="FFFF00"/>
                </a:solidFill>
                <a:latin typeface="Trebuchet MS" panose="020B0603020202020204" pitchFamily="34" charset="0"/>
              </a:rPr>
              <a:t>Using the placeholders</a:t>
            </a: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To add text to this template click inside a placeholder and type in or paste your text. To move a placeholder, click on it </a:t>
            </a:r>
            <a:r>
              <a:rPr lang="en-US" altLang="en-US" sz="3200" u="sng" dirty="0">
                <a:solidFill>
                  <a:srgbClr val="FFFFFF"/>
                </a:solidFill>
                <a:latin typeface="Trebuchet MS" panose="020B0603020202020204" pitchFamily="34" charset="0"/>
              </a:rPr>
              <a:t>once</a:t>
            </a: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 (to select it), place your cursor on its frame and your cursor will change to this symbol:         Then, click </a:t>
            </a:r>
            <a:r>
              <a:rPr lang="en-US" altLang="en-US" sz="3200" u="sng" dirty="0">
                <a:solidFill>
                  <a:srgbClr val="FFFFFF"/>
                </a:solidFill>
                <a:latin typeface="Trebuchet MS" panose="020B0603020202020204" pitchFamily="34" charset="0"/>
              </a:rPr>
              <a:t>once</a:t>
            </a: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 and drag it to its new location where you can resize it as needed. Additional placeholders can be found on the left side of this template.</a:t>
            </a:r>
          </a:p>
          <a:p>
            <a:pPr eaLnBrk="1" hangingPunct="1">
              <a:defRPr/>
            </a:pPr>
            <a:endParaRPr lang="en-US" alt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r>
              <a:rPr lang="en-US" altLang="en-US" sz="3200" b="1" dirty="0">
                <a:solidFill>
                  <a:srgbClr val="FFFF00"/>
                </a:solidFill>
                <a:latin typeface="Trebuchet MS" panose="020B0603020202020204" pitchFamily="34" charset="0"/>
              </a:rPr>
              <a:t>Modifying the layout</a:t>
            </a: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This template was specifically designed for a 48x36 tri-fold presentation. Its layout should not be changed or it may not fit on a standard board. It has a one foot column on the left, a 2 foot column in the middle and a 1 foot column on the right.</a:t>
            </a: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The columns in the provided layout are fixed and cannot be moved but advanced users can modify any layout by going to VIEW and then SLIDE MASTER.</a:t>
            </a:r>
          </a:p>
          <a:p>
            <a:pPr eaLnBrk="1" hangingPunct="1">
              <a:defRPr/>
            </a:pPr>
            <a:endParaRPr lang="en-US" altLang="en-US" sz="32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r>
              <a:rPr lang="en-US" altLang="en-US" sz="3200" b="1" dirty="0">
                <a:solidFill>
                  <a:srgbClr val="FFFF00"/>
                </a:solidFill>
                <a:latin typeface="Trebuchet MS" panose="020B0603020202020204" pitchFamily="34" charset="0"/>
              </a:rPr>
              <a:t>Importing text and graphics from external sources</a:t>
            </a:r>
          </a:p>
          <a:p>
            <a:pPr eaLnBrk="1" hangingPunct="1">
              <a:defRPr/>
            </a:pPr>
            <a:r>
              <a:rPr lang="en-US" altLang="en-US" sz="3200" b="1" u="sng" dirty="0">
                <a:solidFill>
                  <a:srgbClr val="FFFFFF"/>
                </a:solidFill>
                <a:latin typeface="Trebuchet MS" panose="020B0603020202020204" pitchFamily="34" charset="0"/>
              </a:rPr>
              <a:t>TEXT: </a:t>
            </a: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Paste or type your text into a pre-existing placeholder or drag in a new placeholder from the left side of the template. Move it anywhere as needed.</a:t>
            </a:r>
          </a:p>
          <a:p>
            <a:pPr eaLnBrk="1" hangingPunct="1">
              <a:defRPr/>
            </a:pPr>
            <a:r>
              <a:rPr lang="en-US" altLang="en-US" sz="3200" b="1" u="sng" dirty="0">
                <a:solidFill>
                  <a:srgbClr val="FFFFFF"/>
                </a:solidFill>
                <a:latin typeface="Trebuchet MS" panose="020B0603020202020204" pitchFamily="34" charset="0"/>
              </a:rPr>
              <a:t>PHOTOS: </a:t>
            </a: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Drag in a picture placeholder, size it </a:t>
            </a:r>
            <a:r>
              <a:rPr lang="en-US" altLang="en-US" sz="3200" u="sng" dirty="0">
                <a:solidFill>
                  <a:srgbClr val="FFFFFF"/>
                </a:solidFill>
                <a:latin typeface="Trebuchet MS" panose="020B0603020202020204" pitchFamily="34" charset="0"/>
              </a:rPr>
              <a:t>first</a:t>
            </a: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, click in it and insert a photo from the menu.</a:t>
            </a:r>
          </a:p>
          <a:p>
            <a:pPr eaLnBrk="1" hangingPunct="1">
              <a:defRPr/>
            </a:pPr>
            <a:r>
              <a:rPr lang="en-US" altLang="en-US" sz="3200" b="1" u="sng" dirty="0">
                <a:solidFill>
                  <a:srgbClr val="FFFFFF"/>
                </a:solidFill>
                <a:latin typeface="Trebuchet MS" panose="020B0603020202020204" pitchFamily="34" charset="0"/>
              </a:rPr>
              <a:t>TABLES: </a:t>
            </a: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You can copy and paste a table from an external document onto this poster template. To adjust  the way the text fits within the cells of a table that has been pasted, </a:t>
            </a:r>
            <a:r>
              <a:rPr lang="en-US" altLang="en-US" sz="3200" u="sng" dirty="0">
                <a:solidFill>
                  <a:srgbClr val="FFFFFF"/>
                </a:solidFill>
                <a:latin typeface="Trebuchet MS" panose="020B0603020202020204" pitchFamily="34" charset="0"/>
              </a:rPr>
              <a:t>right-click</a:t>
            </a: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 on the table, click FORMAT SHAPE  then click on TEXT BOX and change the INTERNAL MARGIN values to 0.25</a:t>
            </a:r>
          </a:p>
          <a:p>
            <a:pPr eaLnBrk="1" hangingPunct="1">
              <a:defRPr/>
            </a:pPr>
            <a:endParaRPr lang="en-US" altLang="en-US" sz="32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r>
              <a:rPr lang="en-US" altLang="en-US" sz="3200" b="1" dirty="0">
                <a:solidFill>
                  <a:srgbClr val="FFFF00"/>
                </a:solidFill>
                <a:latin typeface="Trebuchet MS" panose="020B0603020202020204" pitchFamily="34" charset="0"/>
              </a:rPr>
              <a:t>Modifying the color scheme</a:t>
            </a:r>
          </a:p>
          <a:p>
            <a:pPr eaLnBrk="1" hangingPunct="1">
              <a:defRPr/>
            </a:pPr>
            <a:r>
              <a:rPr lang="en-US" altLang="en-US" sz="3200" dirty="0">
                <a:solidFill>
                  <a:srgbClr val="FFFFFF"/>
                </a:solidFill>
                <a:latin typeface="Trebuchet MS" panose="020B0603020202020204" pitchFamily="34" charset="0"/>
              </a:rPr>
              <a:t>To change the color scheme of this template go to the “Design” menu and click on “Colors”. You can choose from the provide color combinations or you can create your own.</a:t>
            </a:r>
          </a:p>
          <a:p>
            <a:pPr eaLnBrk="1" hangingPunct="1">
              <a:defRPr/>
            </a:pPr>
            <a:endParaRPr lang="en-US" altLang="en-US" sz="20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endParaRPr lang="en-US" altLang="en-US" sz="20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algn="ctr" eaLnBrk="1" hangingPunct="1">
              <a:defRPr/>
            </a:pPr>
            <a:endParaRPr lang="en-US" altLang="en-US" sz="20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eaLnBrk="1" hangingPunct="1">
              <a:defRPr/>
            </a:pPr>
            <a:endParaRPr lang="en-US" altLang="en-US" sz="2000" b="1" dirty="0">
              <a:solidFill>
                <a:srgbClr val="FFFF00"/>
              </a:solidFill>
              <a:latin typeface="Trebuchet MS" panose="020B0603020202020204" pitchFamily="34" charset="0"/>
            </a:endParaRPr>
          </a:p>
          <a:p>
            <a:pPr algn="ctr" eaLnBrk="1" hangingPunct="1">
              <a:defRPr/>
            </a:pPr>
            <a:endParaRPr lang="en-US" altLang="en-US" sz="3200" b="1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02EFD8-E16E-20FD-5602-F02B13F4D9BF}"/>
              </a:ext>
            </a:extLst>
          </p:cNvPr>
          <p:cNvSpPr/>
          <p:nvPr/>
        </p:nvSpPr>
        <p:spPr>
          <a:xfrm>
            <a:off x="-10721975" y="-19050"/>
            <a:ext cx="10050462" cy="32918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2" tIns="365741" rIns="182872" bIns="182872"/>
          <a:lstStyle/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QUICK DESIGN GUIDE</a:t>
            </a: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(--THIS SECTION DOES NOT PRINT--)</a:t>
            </a: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This PowerPoint 2007 template produces a 36”x48” tri-fold presentation  poster. It will save you valuable time placing titles, subtitles, text, and graphics. 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Use it to create your presentation. Then send it to </a:t>
            </a:r>
            <a:r>
              <a:rPr lang="en-US" sz="3200" b="1" dirty="0">
                <a:latin typeface="Trebuchet MS" pitchFamily="34" charset="0"/>
              </a:rPr>
              <a:t>PosterPresentations.com</a:t>
            </a:r>
            <a:r>
              <a:rPr lang="en-US" sz="3200" dirty="0">
                <a:latin typeface="Trebuchet MS" pitchFamily="34" charset="0"/>
              </a:rPr>
              <a:t> for premium quality, same day affordable printing.</a:t>
            </a:r>
            <a:br>
              <a:rPr lang="en-US" sz="3200" dirty="0">
                <a:latin typeface="Trebuchet MS" pitchFamily="34" charset="0"/>
              </a:rPr>
            </a:b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We provide a series of </a:t>
            </a:r>
            <a:r>
              <a:rPr lang="en-US" sz="3200" b="1" dirty="0">
                <a:latin typeface="Trebuchet MS" pitchFamily="34" charset="0"/>
              </a:rPr>
              <a:t>online tutorials</a:t>
            </a:r>
            <a:r>
              <a:rPr lang="en-US" sz="3200" dirty="0">
                <a:latin typeface="Trebuchet MS" pitchFamily="34" charset="0"/>
              </a:rPr>
              <a:t> that will guide you through the poster design process and answer your poster production questions. 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View our online tutorials at: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http://bit.ly/Poster_creation_help </a:t>
            </a:r>
            <a:br>
              <a:rPr lang="en-US" sz="3200" dirty="0">
                <a:latin typeface="Trebuchet MS" pitchFamily="34" charset="0"/>
              </a:rPr>
            </a:br>
            <a:r>
              <a:rPr lang="en-US" sz="3200" dirty="0">
                <a:latin typeface="Trebuchet MS" pitchFamily="34" charset="0"/>
              </a:rPr>
              <a:t>(copy and paste the link into your web browser).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For assistance and to order your printed poster</a:t>
            </a:r>
            <a:r>
              <a:rPr lang="en-US" sz="3200" dirty="0">
                <a:solidFill>
                  <a:schemeClr val="bg1"/>
                </a:solidFill>
                <a:latin typeface="Trebuchet MS" pitchFamily="34" charset="0"/>
              </a:rPr>
              <a:t> call </a:t>
            </a: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PosterPresentations.com</a:t>
            </a:r>
            <a:r>
              <a:rPr lang="en-US" sz="3200" dirty="0">
                <a:solidFill>
                  <a:srgbClr val="FFFF00"/>
                </a:solidFill>
                <a:latin typeface="Trebuchet MS" pitchFamily="34" charset="0"/>
              </a:rPr>
              <a:t> </a:t>
            </a:r>
            <a:r>
              <a:rPr lang="en-US" sz="3200" dirty="0">
                <a:latin typeface="Trebuchet MS" pitchFamily="34" charset="0"/>
              </a:rPr>
              <a:t>at </a:t>
            </a:r>
            <a:r>
              <a:rPr lang="en-US" sz="4000" b="1" dirty="0">
                <a:solidFill>
                  <a:srgbClr val="FFFF00"/>
                </a:solidFill>
                <a:latin typeface="Trebuchet MS" pitchFamily="34" charset="0"/>
              </a:rPr>
              <a:t>1.866.649.3004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0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</a:rPr>
              <a:t>Object Placeholders</a:t>
            </a: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Use the placeholders provided below to add new elements to your poster: Drag a placeholder onto the poster area, size it, and click it to edit.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Section Header placeholder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Move this preformatted section header placeholder to the poster area to add another section header. Use section headers to separate topics or concepts within your presentation. 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Text placeholder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Move this preformatted text placeholder to the poster to add a new body of text.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FF00"/>
                </a:solidFill>
                <a:latin typeface="Trebuchet MS" pitchFamily="34" charset="0"/>
              </a:rPr>
              <a:t>Picture placeholder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Trebuchet MS" pitchFamily="34" charset="0"/>
              </a:rPr>
              <a:t>Move this graphic placeholder onto your poster, size it first, and then click it to add a picture to the poster.</a:t>
            </a: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latin typeface="Trebuchet MS" pitchFamily="34" charset="0"/>
            </a:endParaRP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schemeClr val="bg1"/>
              </a:solidFill>
              <a:latin typeface="Trebuchet MS" pitchFamily="34" charset="0"/>
            </a:endParaRPr>
          </a:p>
          <a:p>
            <a:pPr defTabSz="4389219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b="1" dirty="0">
              <a:solidFill>
                <a:srgbClr val="FFFF00"/>
              </a:solidFill>
              <a:latin typeface="Trebuchet MS" pitchFamily="34" charset="0"/>
            </a:endParaRPr>
          </a:p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dirty="0">
              <a:latin typeface="Trebuchet MS" pitchFamily="34" charset="0"/>
            </a:endParaRP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5B7899E6-7884-556A-8B28-05944701B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91200" cy="437197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23A822B-439E-ED55-EF5C-D7D28999DBA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4371975"/>
            <a:ext cx="43891200" cy="43338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52400">
            <a:noFill/>
            <a:miter lim="800000"/>
            <a:headEnd/>
            <a:tailEnd/>
          </a:ln>
          <a:effectLst/>
        </p:spPr>
        <p:txBody>
          <a:bodyPr wrap="none" lIns="91436" tIns="45717" rIns="91436" bIns="45717" anchor="ctr"/>
          <a:lstStyle/>
          <a:p>
            <a:pPr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aseline="-25000" dirty="0">
              <a:latin typeface="+mn-lt"/>
              <a:cs typeface="+mn-cs"/>
            </a:endParaRPr>
          </a:p>
        </p:txBody>
      </p:sp>
      <p:sp>
        <p:nvSpPr>
          <p:cNvPr id="1030" name="Text Box 14">
            <a:extLst>
              <a:ext uri="{FF2B5EF4-FFF2-40B4-BE49-F238E27FC236}">
                <a16:creationId xmlns:a16="http://schemas.microsoft.com/office/drawing/2014/main" id="{CD285C15-681F-D0CC-ABB8-3CA740E7C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" y="322326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3" tIns="45623" rIns="91263" bIns="45623">
            <a:spAutoFit/>
          </a:bodyPr>
          <a:lstStyle>
            <a:lvl1pPr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altLang="en-US" sz="500" b="1">
                <a:solidFill>
                  <a:srgbClr val="BFBFBF"/>
                </a:solidFill>
                <a:latin typeface="Arial" panose="020B0604020202020204" pitchFamily="34" charset="0"/>
              </a:rPr>
              <a:t>RESEARCH POSTER PRESENTATION DESIGN © 2011</a:t>
            </a:r>
          </a:p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altLang="en-US" sz="1100" b="1">
                <a:solidFill>
                  <a:srgbClr val="BFBFBF"/>
                </a:solidFill>
                <a:latin typeface="Arial" panose="020B0604020202020204" pitchFamily="34" charset="0"/>
              </a:rPr>
              <a:t>www.PosterPresentations.com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849A2E1D-CE45-0C86-8167-ADD8EC9F1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5575" y="5257800"/>
            <a:ext cx="10201275" cy="26746200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36" tIns="45717" rIns="91436" bIns="45717" anchor="ctr"/>
          <a:lstStyle/>
          <a:p>
            <a:pPr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33">
            <a:extLst>
              <a:ext uri="{FF2B5EF4-FFF2-40B4-BE49-F238E27FC236}">
                <a16:creationId xmlns:a16="http://schemas.microsoft.com/office/drawing/2014/main" id="{FB0CAADE-E603-AE27-0499-2142673EC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3150" y="5257800"/>
            <a:ext cx="21428075" cy="26746200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36" tIns="45717" rIns="91436" bIns="45717" anchor="ctr"/>
          <a:lstStyle/>
          <a:p>
            <a:pPr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" name="Rectangle 33">
            <a:extLst>
              <a:ext uri="{FF2B5EF4-FFF2-40B4-BE49-F238E27FC236}">
                <a16:creationId xmlns:a16="http://schemas.microsoft.com/office/drawing/2014/main" id="{94C0F951-5E99-C625-696D-6FF451EE5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5267325"/>
            <a:ext cx="10204450" cy="26736675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36" tIns="45717" rIns="91436" bIns="45717" anchor="ctr"/>
          <a:lstStyle/>
          <a:p>
            <a:pPr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684BE5-ABF4-4D1E-4410-801C5954A0E6}"/>
              </a:ext>
            </a:extLst>
          </p:cNvPr>
          <p:cNvSpPr/>
          <p:nvPr/>
        </p:nvSpPr>
        <p:spPr>
          <a:xfrm>
            <a:off x="-10704513" y="21834475"/>
            <a:ext cx="10018713" cy="777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7" rIns="91436" bIns="45717" anchor="ctr"/>
          <a:lstStyle/>
          <a:p>
            <a:pPr algn="ctr" defTabSz="43889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035" name="Group 27">
            <a:extLst>
              <a:ext uri="{FF2B5EF4-FFF2-40B4-BE49-F238E27FC236}">
                <a16:creationId xmlns:a16="http://schemas.microsoft.com/office/drawing/2014/main" id="{362F1F12-C9C7-78B9-39AE-C1E18874FCDC}"/>
              </a:ext>
            </a:extLst>
          </p:cNvPr>
          <p:cNvGrpSpPr>
            <a:grpSpLocks/>
          </p:cNvGrpSpPr>
          <p:nvPr/>
        </p:nvGrpSpPr>
        <p:grpSpPr bwMode="auto">
          <a:xfrm>
            <a:off x="-10723563" y="12261850"/>
            <a:ext cx="10048875" cy="14288"/>
            <a:chOff x="-10723375" y="12261715"/>
            <a:chExt cx="10049040" cy="14924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100F13C-8A93-57A3-42CE-30ADE9716517}"/>
                </a:ext>
              </a:extLst>
            </p:cNvPr>
            <p:cNvCxnSpPr/>
            <p:nvPr/>
          </p:nvCxnSpPr>
          <p:spPr>
            <a:xfrm>
              <a:off x="-10723375" y="12261715"/>
              <a:ext cx="10049040" cy="16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6BAB022-EE8C-62AD-B882-2C268F45EF34}"/>
                </a:ext>
              </a:extLst>
            </p:cNvPr>
            <p:cNvCxnSpPr/>
            <p:nvPr/>
          </p:nvCxnSpPr>
          <p:spPr>
            <a:xfrm>
              <a:off x="-10723375" y="12274980"/>
              <a:ext cx="10049040" cy="1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6" name="Picture 2">
            <a:extLst>
              <a:ext uri="{FF2B5EF4-FFF2-40B4-BE49-F238E27FC236}">
                <a16:creationId xmlns:a16="http://schemas.microsoft.com/office/drawing/2014/main" id="{E3460813-AA02-1157-91FB-A76890F5A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3100" y="13119100"/>
            <a:ext cx="590550" cy="438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TextBox 43">
            <a:extLst>
              <a:ext uri="{FF2B5EF4-FFF2-40B4-BE49-F238E27FC236}">
                <a16:creationId xmlns:a16="http://schemas.microsoft.com/office/drawing/2014/main" id="{37CE0D2E-A6A1-6B06-F223-D765A7D51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3838" y="30040263"/>
            <a:ext cx="9161462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6" tIns="45717" rIns="91436" bIns="45717">
            <a:spAutoFit/>
          </a:bodyPr>
          <a:lstStyle>
            <a:lvl1pPr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387850" fontAlgn="base">
              <a:spcBef>
                <a:spcPct val="0"/>
              </a:spcBef>
              <a:spcAft>
                <a:spcPct val="0"/>
              </a:spcAft>
              <a:defRPr sz="8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4400">
                <a:solidFill>
                  <a:schemeClr val="bg1"/>
                </a:solidFill>
              </a:rPr>
              <a:t>© 2011 PosterPresentations.com</a:t>
            </a:r>
            <a:br>
              <a:rPr lang="en-US" altLang="en-US" sz="4400">
                <a:solidFill>
                  <a:schemeClr val="bg1"/>
                </a:solidFill>
              </a:rPr>
            </a:br>
            <a:r>
              <a:rPr lang="en-US" altLang="en-US" sz="4400">
                <a:solidFill>
                  <a:schemeClr val="bg1"/>
                </a:solidFill>
              </a:rPr>
              <a:t>    </a:t>
            </a:r>
            <a:r>
              <a:rPr lang="en-US" altLang="en-US" sz="3700">
                <a:solidFill>
                  <a:schemeClr val="bg1"/>
                </a:solidFill>
              </a:rPr>
              <a:t>2117 Fourth Street , Unit C</a:t>
            </a:r>
            <a:br>
              <a:rPr lang="en-US" altLang="en-US" sz="3700">
                <a:solidFill>
                  <a:schemeClr val="bg1"/>
                </a:solidFill>
              </a:rPr>
            </a:br>
            <a:r>
              <a:rPr lang="en-US" altLang="en-US" sz="3700">
                <a:solidFill>
                  <a:schemeClr val="bg1"/>
                </a:solidFill>
              </a:rPr>
              <a:t>    Berkeley CA 94710</a:t>
            </a:r>
            <a:br>
              <a:rPr lang="en-US" altLang="en-US" sz="3700">
                <a:solidFill>
                  <a:schemeClr val="bg1"/>
                </a:solidFill>
              </a:rPr>
            </a:br>
            <a:r>
              <a:rPr lang="en-US" altLang="en-US" sz="3700">
                <a:solidFill>
                  <a:schemeClr val="bg1"/>
                </a:solidFill>
              </a:rPr>
              <a:t>    </a:t>
            </a:r>
            <a:r>
              <a:rPr lang="en-US" altLang="en-US" sz="3700" b="1">
                <a:solidFill>
                  <a:srgbClr val="FFFF00"/>
                </a:solidFill>
              </a:rPr>
              <a:t>posterpresenter@gmail.com</a:t>
            </a:r>
            <a:endParaRPr lang="en-US" altLang="en-US" sz="4400" b="1">
              <a:solidFill>
                <a:srgbClr val="FFFF00"/>
              </a:solidFill>
            </a:endParaRPr>
          </a:p>
        </p:txBody>
      </p:sp>
      <p:grpSp>
        <p:nvGrpSpPr>
          <p:cNvPr id="1038" name="Group 39">
            <a:extLst>
              <a:ext uri="{FF2B5EF4-FFF2-40B4-BE49-F238E27FC236}">
                <a16:creationId xmlns:a16="http://schemas.microsoft.com/office/drawing/2014/main" id="{D4937876-167F-FC1E-9AEC-6640C5ABD78B}"/>
              </a:ext>
            </a:extLst>
          </p:cNvPr>
          <p:cNvGrpSpPr>
            <a:grpSpLocks/>
          </p:cNvGrpSpPr>
          <p:nvPr/>
        </p:nvGrpSpPr>
        <p:grpSpPr bwMode="auto">
          <a:xfrm>
            <a:off x="-10593388" y="31580138"/>
            <a:ext cx="9771063" cy="1392237"/>
            <a:chOff x="44242388" y="28054064"/>
            <a:chExt cx="9771398" cy="1392688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974BD04C-CC3B-38D5-EE37-85F3CF2CB957}"/>
                </a:ext>
              </a:extLst>
            </p:cNvPr>
            <p:cNvSpPr/>
            <p:nvPr userDrawn="1"/>
          </p:nvSpPr>
          <p:spPr>
            <a:xfrm>
              <a:off x="44242388" y="28054064"/>
              <a:ext cx="9771398" cy="109096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388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046" name="Picture 7" descr="http://t2.gstatic.com/images?q=tbn:ANd9GcR4APHC6TT9w54M2zn_pvCiBxUNcspYPoVxirLRphBoJabfSvu7zw">
              <a:hlinkClick r:id="rId4"/>
              <a:extLst>
                <a:ext uri="{FF2B5EF4-FFF2-40B4-BE49-F238E27FC236}">
                  <a16:creationId xmlns:a16="http://schemas.microsoft.com/office/drawing/2014/main" id="{4043B888-5C7B-F974-A54B-9D71019EF8F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41112" y="28126635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7" name="TextBox 32">
              <a:extLst>
                <a:ext uri="{FF2B5EF4-FFF2-40B4-BE49-F238E27FC236}">
                  <a16:creationId xmlns:a16="http://schemas.microsoft.com/office/drawing/2014/main" id="{96D71E4C-EC50-C27F-3BD8-CFDF8ED0F4D1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45342564" y="28154108"/>
              <a:ext cx="8671222" cy="1292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387850" fontAlgn="base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387850" fontAlgn="base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387850" fontAlgn="base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387850" fontAlgn="base">
                <a:spcBef>
                  <a:spcPct val="0"/>
                </a:spcBef>
                <a:spcAft>
                  <a:spcPct val="0"/>
                </a:spcAft>
                <a:defRPr sz="86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600">
                  <a:solidFill>
                    <a:schemeClr val="tx2"/>
                  </a:solidFill>
                  <a:latin typeface="Trebuchet MS" panose="020B0603020202020204" pitchFamily="34" charset="0"/>
                </a:rPr>
                <a:t>Student discounts are available on our Facebook page.</a:t>
              </a:r>
              <a:br>
                <a:rPr lang="en-US" altLang="en-US" sz="2600">
                  <a:solidFill>
                    <a:schemeClr val="tx2"/>
                  </a:solidFill>
                  <a:latin typeface="Trebuchet MS" panose="020B0603020202020204" pitchFamily="34" charset="0"/>
                </a:rPr>
              </a:br>
              <a:r>
                <a:rPr lang="en-US" altLang="en-US" sz="2600">
                  <a:solidFill>
                    <a:schemeClr val="tx2"/>
                  </a:solidFill>
                  <a:latin typeface="Trebuchet MS" panose="020B0603020202020204" pitchFamily="34" charset="0"/>
                </a:rPr>
                <a:t>Go to </a:t>
              </a:r>
              <a:r>
                <a:rPr lang="en-US" altLang="en-US" sz="2600" u="sng">
                  <a:solidFill>
                    <a:schemeClr val="tx2"/>
                  </a:solidFill>
                  <a:latin typeface="Trebuchet MS" panose="020B0603020202020204" pitchFamily="34" charset="0"/>
                </a:rPr>
                <a:t>PosterPresentations.com</a:t>
              </a:r>
              <a:r>
                <a:rPr lang="en-US" altLang="en-US" sz="2600">
                  <a:solidFill>
                    <a:schemeClr val="tx2"/>
                  </a:solidFill>
                  <a:latin typeface="Trebuchet MS" panose="020B0603020202020204" pitchFamily="34" charset="0"/>
                </a:rPr>
                <a:t> and click on the FB icon. </a:t>
              </a:r>
              <a:br>
                <a:rPr lang="en-US" altLang="en-US" sz="2600">
                  <a:solidFill>
                    <a:schemeClr val="tx2"/>
                  </a:solidFill>
                  <a:latin typeface="Trebuchet MS" panose="020B0603020202020204" pitchFamily="34" charset="0"/>
                </a:rPr>
              </a:br>
              <a:endParaRPr lang="en-US" altLang="en-US" sz="2600">
                <a:solidFill>
                  <a:schemeClr val="tx2"/>
                </a:solidFill>
                <a:latin typeface="Trebuchet MS" panose="020B0603020202020204" pitchFamily="34" charset="0"/>
              </a:endParaRPr>
            </a:p>
          </p:txBody>
        </p:sp>
      </p:grpSp>
      <p:grpSp>
        <p:nvGrpSpPr>
          <p:cNvPr id="1039" name="Group 35">
            <a:extLst>
              <a:ext uri="{FF2B5EF4-FFF2-40B4-BE49-F238E27FC236}">
                <a16:creationId xmlns:a16="http://schemas.microsoft.com/office/drawing/2014/main" id="{0D079F15-7E00-79A8-E49B-B09FBB751CB2}"/>
              </a:ext>
            </a:extLst>
          </p:cNvPr>
          <p:cNvGrpSpPr>
            <a:grpSpLocks/>
          </p:cNvGrpSpPr>
          <p:nvPr/>
        </p:nvGrpSpPr>
        <p:grpSpPr bwMode="auto">
          <a:xfrm>
            <a:off x="44530963" y="29940250"/>
            <a:ext cx="10048875" cy="14288"/>
            <a:chOff x="-10723375" y="12261715"/>
            <a:chExt cx="10049040" cy="14924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1212288-1380-6CC5-41AE-1C50817EF884}"/>
                </a:ext>
              </a:extLst>
            </p:cNvPr>
            <p:cNvCxnSpPr/>
            <p:nvPr/>
          </p:nvCxnSpPr>
          <p:spPr>
            <a:xfrm>
              <a:off x="-10723375" y="12261715"/>
              <a:ext cx="10049040" cy="16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B210405-9760-7C86-FF63-585D2E6F64C9}"/>
                </a:ext>
              </a:extLst>
            </p:cNvPr>
            <p:cNvCxnSpPr/>
            <p:nvPr/>
          </p:nvCxnSpPr>
          <p:spPr>
            <a:xfrm>
              <a:off x="-10723375" y="12274980"/>
              <a:ext cx="10049040" cy="1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0" name="Group 44">
            <a:extLst>
              <a:ext uri="{FF2B5EF4-FFF2-40B4-BE49-F238E27FC236}">
                <a16:creationId xmlns:a16="http://schemas.microsoft.com/office/drawing/2014/main" id="{35E2682D-AB56-F0FF-A4BA-9CCF7541FA9E}"/>
              </a:ext>
            </a:extLst>
          </p:cNvPr>
          <p:cNvGrpSpPr>
            <a:grpSpLocks/>
          </p:cNvGrpSpPr>
          <p:nvPr/>
        </p:nvGrpSpPr>
        <p:grpSpPr bwMode="auto">
          <a:xfrm>
            <a:off x="44540488" y="4805363"/>
            <a:ext cx="10048875" cy="14287"/>
            <a:chOff x="-10723375" y="12261715"/>
            <a:chExt cx="10049040" cy="14924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C8C2BBF-07D7-68FB-5662-40CA179FFAFB}"/>
                </a:ext>
              </a:extLst>
            </p:cNvPr>
            <p:cNvCxnSpPr/>
            <p:nvPr/>
          </p:nvCxnSpPr>
          <p:spPr>
            <a:xfrm>
              <a:off x="-10723375" y="12261715"/>
              <a:ext cx="10049040" cy="165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F1E03CD-DFAA-E06D-C957-5139D9E84564}"/>
                </a:ext>
              </a:extLst>
            </p:cNvPr>
            <p:cNvCxnSpPr/>
            <p:nvPr/>
          </p:nvCxnSpPr>
          <p:spPr>
            <a:xfrm>
              <a:off x="-10723375" y="12274981"/>
              <a:ext cx="10049040" cy="16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387850" rtl="0" eaLnBrk="0" fontAlgn="base" hangingPunct="0">
        <a:spcBef>
          <a:spcPct val="0"/>
        </a:spcBef>
        <a:spcAft>
          <a:spcPct val="0"/>
        </a:spcAft>
        <a:defRPr sz="8800" kern="1200">
          <a:solidFill>
            <a:schemeClr val="bg1"/>
          </a:solidFill>
          <a:latin typeface="Trebuchet MS" pitchFamily="34" charset="0"/>
          <a:ea typeface="+mj-ea"/>
          <a:cs typeface="+mj-cs"/>
        </a:defRPr>
      </a:lvl1pPr>
      <a:lvl2pPr algn="ctr" defTabSz="4387850" rtl="0" eaLnBrk="0" fontAlgn="base" hangingPunct="0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2pPr>
      <a:lvl3pPr algn="ctr" defTabSz="4387850" rtl="0" eaLnBrk="0" fontAlgn="base" hangingPunct="0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3pPr>
      <a:lvl4pPr algn="ctr" defTabSz="4387850" rtl="0" eaLnBrk="0" fontAlgn="base" hangingPunct="0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4pPr>
      <a:lvl5pPr algn="ctr" defTabSz="4387850" rtl="0" eaLnBrk="0" fontAlgn="base" hangingPunct="0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5pPr>
      <a:lvl6pPr marL="457200" algn="ctr" defTabSz="4387850" rtl="0" fontAlgn="base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6pPr>
      <a:lvl7pPr marL="914400" algn="ctr" defTabSz="4387850" rtl="0" fontAlgn="base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7pPr>
      <a:lvl8pPr marL="1371600" algn="ctr" defTabSz="4387850" rtl="0" fontAlgn="base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8pPr>
      <a:lvl9pPr marL="1828800" algn="ctr" defTabSz="4387850" rtl="0" fontAlgn="base">
        <a:spcBef>
          <a:spcPct val="0"/>
        </a:spcBef>
        <a:spcAft>
          <a:spcPct val="0"/>
        </a:spcAft>
        <a:defRPr sz="8800">
          <a:solidFill>
            <a:schemeClr val="bg1"/>
          </a:solidFill>
          <a:latin typeface="Trebuchet MS" panose="020B0603020202020204" pitchFamily="34" charset="0"/>
        </a:defRPr>
      </a:lvl9pPr>
    </p:titleStyle>
    <p:bodyStyle>
      <a:lvl1pPr marL="1644650" indent="-1644650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0013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4813" indent="-1096963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325" indent="-1096963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4250" indent="-1096963" algn="l" defTabSz="438785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4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3926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37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2827" indent="-1097226" algn="l" defTabSz="438890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4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8900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35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7801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2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67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152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5603" algn="l" defTabSz="438890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-org.wake.idm.oclc.org/10.1002/jclp.23143" TargetMode="External"/><Relationship Id="rId13" Type="http://schemas.openxmlformats.org/officeDocument/2006/relationships/hyperlink" Target="https://doi.org/10.1111/sjop.12076" TargetMode="External"/><Relationship Id="rId18" Type="http://schemas.openxmlformats.org/officeDocument/2006/relationships/hyperlink" Target="https://doi.org/10.1016/j.comppsych.2011.10.007" TargetMode="External"/><Relationship Id="rId26" Type="http://schemas.openxmlformats.org/officeDocument/2006/relationships/image" Target="../media/image6.png"/><Relationship Id="rId3" Type="http://schemas.openxmlformats.org/officeDocument/2006/relationships/image" Target="../media/image3.jpeg"/><Relationship Id="rId21" Type="http://schemas.openxmlformats.org/officeDocument/2006/relationships/hyperlink" Target="https://doi-org.wake.idm.oclc.org/10.1037/per0000202" TargetMode="External"/><Relationship Id="rId7" Type="http://schemas.openxmlformats.org/officeDocument/2006/relationships/hyperlink" Target="https://doi-org.wake.idm.oclc.org/10.1002/pmh.1230" TargetMode="External"/><Relationship Id="rId12" Type="http://schemas.openxmlformats.org/officeDocument/2006/relationships/hyperlink" Target="https://doi.org/10.1007/s00127-015-1088-0" TargetMode="External"/><Relationship Id="rId17" Type="http://schemas.openxmlformats.org/officeDocument/2006/relationships/hyperlink" Target="https://doi-org/10.1097/NMD.0000000000000536" TargetMode="External"/><Relationship Id="rId25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doi.org/10.2147/PRBM.S121073" TargetMode="External"/><Relationship Id="rId20" Type="http://schemas.openxmlformats.org/officeDocument/2006/relationships/hyperlink" Target="https://doi.org/10.1037/a0025654" TargetMode="External"/><Relationship Id="rId29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37/per0000110" TargetMode="External"/><Relationship Id="rId11" Type="http://schemas.openxmlformats.org/officeDocument/2006/relationships/hyperlink" Target="https://doi-org.wake.idm.oclc.org/10.1037/a0036929" TargetMode="External"/><Relationship Id="rId24" Type="http://schemas.openxmlformats.org/officeDocument/2006/relationships/image" Target="../media/image4.png"/><Relationship Id="rId5" Type="http://schemas.openxmlformats.org/officeDocument/2006/relationships/hyperlink" Target="https://doi-org.wake.idm.oclc.org/10.1002/jclp.23118" TargetMode="External"/><Relationship Id="rId15" Type="http://schemas.openxmlformats.org/officeDocument/2006/relationships/hyperlink" Target="https://doi-org.wake.idm.oclc.org/10.1097/YCO.0000000000000211" TargetMode="External"/><Relationship Id="rId23" Type="http://schemas.openxmlformats.org/officeDocument/2006/relationships/hyperlink" Target="https://doi-org.wake.idm.oclc.org/10.3389/fpsyg.2023.1248617" TargetMode="External"/><Relationship Id="rId28" Type="http://schemas.openxmlformats.org/officeDocument/2006/relationships/image" Target="../media/image8.jpeg"/><Relationship Id="rId10" Type="http://schemas.openxmlformats.org/officeDocument/2006/relationships/hyperlink" Target="https://doi-org.wake.idm.oclc.org/10.1002/cpp.541" TargetMode="External"/><Relationship Id="rId19" Type="http://schemas.openxmlformats.org/officeDocument/2006/relationships/hyperlink" Target="https://doi-org.wake.idm.oclc.org/10.1007/s10879-013-9256-6" TargetMode="External"/><Relationship Id="rId4" Type="http://schemas.openxmlformats.org/officeDocument/2006/relationships/hyperlink" Target="https://doi.org/10.1176/appibooks.9780890425596" TargetMode="External"/><Relationship Id="rId9" Type="http://schemas.openxmlformats.org/officeDocument/2006/relationships/hyperlink" Target="https://doi.org/10.1177/1534650115575788" TargetMode="External"/><Relationship Id="rId14" Type="http://schemas.openxmlformats.org/officeDocument/2006/relationships/hyperlink" Target="https://doi.org/10.1002/pmh.1345" TargetMode="External"/><Relationship Id="rId22" Type="http://schemas.openxmlformats.org/officeDocument/2006/relationships/hyperlink" Target="https://doi.org/10.1002/jclp.22740" TargetMode="External"/><Relationship Id="rId27" Type="http://schemas.openxmlformats.org/officeDocument/2006/relationships/image" Target="../media/image7.jpeg"/><Relationship Id="rId30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6" name="Picture 60" descr="Anxious/Avoidant personality disorder|AvPD|Cluster C|हिन्दी में| - YouTube">
            <a:extLst>
              <a:ext uri="{FF2B5EF4-FFF2-40B4-BE49-F238E27FC236}">
                <a16:creationId xmlns:a16="http://schemas.microsoft.com/office/drawing/2014/main" id="{F8BA4BE0-0BAA-A7CD-B129-8E44BBA149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34" t="3478" r="17107"/>
          <a:stretch/>
        </p:blipFill>
        <p:spPr bwMode="auto">
          <a:xfrm>
            <a:off x="5778426" y="11362363"/>
            <a:ext cx="4579460" cy="5984571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074" name="Title 1">
            <a:extLst>
              <a:ext uri="{FF2B5EF4-FFF2-40B4-BE49-F238E27FC236}">
                <a16:creationId xmlns:a16="http://schemas.microsoft.com/office/drawing/2014/main" id="{E3FA2435-E6C0-B722-90D8-B95060D9025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1242675" y="596900"/>
            <a:ext cx="21431250" cy="1168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en-US" sz="7000" dirty="0"/>
              <a:t>Affect and Avoidant Personality Disorder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31364F1F-34AC-CE40-1B46-B4B1C97AB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527050" y="6021388"/>
            <a:ext cx="10196513" cy="17543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800" dirty="0">
                <a:effectLst/>
                <a:ea typeface="Calibri" panose="020F0502020204030204" pitchFamily="34" charset="0"/>
              </a:rPr>
              <a:t>This review analyzes current research concerning the relationship between affective states and avoidant personality disorder (</a:t>
            </a:r>
            <a:r>
              <a:rPr lang="en-US" sz="2800" dirty="0" err="1">
                <a:effectLst/>
                <a:ea typeface="Calibri" panose="020F0502020204030204" pitchFamily="34" charset="0"/>
              </a:rPr>
              <a:t>AvPD</a:t>
            </a:r>
            <a:r>
              <a:rPr lang="en-US" sz="2800" dirty="0">
                <a:effectLst/>
                <a:ea typeface="Calibri" panose="020F0502020204030204" pitchFamily="34" charset="0"/>
              </a:rPr>
              <a:t>).  Key themes explored include:</a:t>
            </a:r>
            <a:endParaRPr lang="en-US" alt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A594D-F4B5-7D06-45AB-07C3FD6401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050" y="5267325"/>
            <a:ext cx="10196513" cy="754063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r>
              <a:rPr lang="en-US" dirty="0">
                <a:cs typeface="Cooper Black"/>
              </a:rPr>
              <a:t>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BC67EF-4131-CC10-81E2-8D4F481506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25" y="17991773"/>
            <a:ext cx="10210800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r>
              <a:rPr lang="en-US" dirty="0"/>
              <a:t>WHY IT MATTERS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2B9297-9256-435E-3334-A050518FC7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1245" y="6012498"/>
            <a:ext cx="21421725" cy="754062"/>
          </a:xfrm>
          <a:solidFill>
            <a:schemeClr val="accent3">
              <a:lumMod val="75000"/>
            </a:schemeClr>
          </a:solidFill>
        </p:spPr>
        <p:txBody>
          <a:bodyPr/>
          <a:lstStyle/>
          <a:p>
            <a:pPr marL="1645838" indent="-1645838" algn="l" defTabSz="438890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</a:rPr>
              <a:t>Dominant and Inhibited Affective States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F6D08D-4C60-77C3-A52C-E8AAD37229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185100" y="5267325"/>
            <a:ext cx="10201275" cy="754063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r>
              <a:rPr lang="en-US" dirty="0"/>
              <a:t>DISCUSSION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F87B632-EFAE-E1D0-7147-80E2E54F51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185100" y="11707803"/>
            <a:ext cx="10201275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r>
              <a:rPr lang="en-US" dirty="0"/>
              <a:t>REFERENCES</a:t>
            </a:r>
          </a:p>
        </p:txBody>
      </p:sp>
      <p:sp>
        <p:nvSpPr>
          <p:cNvPr id="3086" name="Text Placeholder 16">
            <a:extLst>
              <a:ext uri="{FF2B5EF4-FFF2-40B4-BE49-F238E27FC236}">
                <a16:creationId xmlns:a16="http://schemas.microsoft.com/office/drawing/2014/main" id="{BD31E2CA-B346-48F7-524B-8383B8AD91B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auto">
          <a:xfrm>
            <a:off x="33185100" y="12490440"/>
            <a:ext cx="10201275" cy="19026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American Psychiatric Association. (2013). </a:t>
            </a:r>
            <a:r>
              <a:rPr lang="en-US" sz="16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Diagnostic and statistical manual of mental disorders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(5th ed.).</a:t>
            </a:r>
          </a:p>
          <a:p>
            <a:pPr eaLnBrk="1" hangingPunct="1"/>
            <a:r>
              <a:rPr lang="en-US" sz="16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https://doi.org/10.1176/appibooks.9780890425596</a:t>
            </a:r>
            <a:endParaRPr lang="en-US" sz="1600" u="sng" dirty="0">
              <a:solidFill>
                <a:srgbClr val="0563C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Bachrach, N., &amp;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Arntz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 (2021). Group schema therapy for patients with cluster-C personality disorders: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case study on avoidant personality disorder.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 of Clinical Psychology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77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(5), 1233–1248.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https://doi-org.wake.idm.oclc.org/10.1002/jclp.23118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Beeney, J. E., Stepp, S. D.,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Hallquist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M. N., Scott, L. N., Wright, A. G., Ellison, W. D.,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Nolf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K.</a:t>
            </a:r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A., &amp;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Pilkonis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P. A. (2015). Attachment and social cognition in borderline personality disorder: Specificity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 relation to antisocial and avoidant personality disorders.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Personality Disorders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(3), 207–215.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https://doi.org/10.1037/per0000110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Bowles, D. P., Armitage, C. J., Drabble, J., &amp; Meyer, B. (2013). Self-esteem and other-esteem</a:t>
            </a:r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 college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students with borderline and avoidant personality disorder features: An</a:t>
            </a:r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experimental vignette study. </a:t>
            </a:r>
          </a:p>
          <a:p>
            <a:pPr eaLnBrk="1" hangingPunct="1"/>
            <a:r>
              <a:rPr lang="en-US" sz="1600" i="1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Personality and Mental Health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(4), 307–319.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https://doi-org.wake.idm.oclc.org/10.1002/pmh.1230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Centonze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A., Popolo, R., MacBeth, A., &amp;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Dimaggio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G. (2021). Building the alliance and using experiential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techniques in the early phases of psychotherapy for avoidant personality disorder.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 of Clinical </a:t>
            </a:r>
          </a:p>
          <a:p>
            <a:pPr eaLnBrk="1" hangingPunct="1"/>
            <a:r>
              <a:rPr lang="en-US" sz="1600" i="1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Psychology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77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(5), 1219–1232.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https://doi-org.wake.idm.oclc.org/10.1002/jclp.23143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Chan, C. C., Bach, P. A., &amp; Bedwell, J. S. (2015). An integrative approach using third-generation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cognitive-behavioral therapies for avoidant personality disorder.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Clinical Case Studies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(6), 466-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481.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https://doi.org/10.1177/1534650115575788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Dimaggio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G.,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Procacci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M.,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Nicolò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G., Popolo, R.,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Semerari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A., Carcione, A., &amp; Lysaker, P. H. (2007).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Poor metacognition in narcissistic and avoidant personality disorders: Four</a:t>
            </a:r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psychotherapy patients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analysed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using the Metacognition Assessment Scale.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Clinical Psychology &amp; Psychotherapy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(5), 386–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401.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https://doi-org.wake.idm.oclc.org/10.1002/cpp.541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Gadassi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R.,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Snir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A., Berenson, K., Downey, G., &amp;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Rafaeli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E. (2014). Out of the frying pan, into the fire:    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Mixed affective reactions to social proximity in borderline and avoidant</a:t>
            </a:r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personality disorders in daily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life.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 of Abnormal Psychology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123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(3), 613–622.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https://doi-org.wake.idm.oclc.org/10.1037/a0036929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Hasin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 S., &amp; Grant, B. F. (2015). The national epidemiologic survey on alcohol and related conditions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(NESARC) waves 1 and 2: review and summary of findings.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Social Psychiatry and Psychiatric </a:t>
            </a:r>
          </a:p>
          <a:p>
            <a:pPr eaLnBrk="1" hangingPunct="1"/>
            <a:r>
              <a:rPr lang="en-US" sz="1600" i="1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Epidemiology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50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(11), 1609–1640.</a:t>
            </a:r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https://doi.org/10.1007/s00127-015-1088-0</a:t>
            </a:r>
            <a:endParaRPr lang="en-US" sz="1600" u="sng" dirty="0">
              <a:solidFill>
                <a:srgbClr val="0563C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Johansen, M. S.,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Normann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-Eide, E.,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Normann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-Eide, T., &amp;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Wilberg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T. (2013). Emotional</a:t>
            </a:r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dysfunction in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avoidant compared to borderline personality disorder: a study of affect consciousness.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Scandinavian </a:t>
            </a:r>
          </a:p>
          <a:p>
            <a:pPr eaLnBrk="1" hangingPunct="1"/>
            <a:r>
              <a:rPr lang="en-US" sz="1600" i="1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 of Psychology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54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(6), 515–521.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https://doi.org/10.1111/sjop.12076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Karterud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S., Pedersen, G., Johansen, M.,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Wilberg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T., Davis, K., &amp;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Panksepp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J. (2016). Primary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emotional traits in patients with personality disorders.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Personality and Mental Health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(4), 261–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273.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4"/>
              </a:rPr>
              <a:t>https://doi.org/10.1002/pmh.1345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Lampe L. (2016). Avoidant personality disorder as a social anxiety phenotype: risk factors, associations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and treatment.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Current Opinion in Psychiatry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29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(1), 64–69.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5"/>
              </a:rPr>
              <a:t>https://doi-org.wake.idm.oclc.org/10.1097/YCO.0000000000000211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Lampe, L., &amp; Malhi, G. S. (2018). Avoidant personality disorder: current insights.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Psychology</a:t>
            </a:r>
            <a:r>
              <a:rPr lang="en-US" sz="1600" i="1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Research and </a:t>
            </a:r>
          </a:p>
          <a:p>
            <a:pPr eaLnBrk="1" hangingPunct="1"/>
            <a:r>
              <a:rPr lang="en-US" sz="1600" i="1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Behavior Management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55–66.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6"/>
              </a:rPr>
              <a:t>https://doi.org/10.2147/PRBM.S121073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Moroni, F., </a:t>
            </a:r>
            <a:r>
              <a:rPr lang="en-US" sz="1600" dirty="0" err="1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Procacci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M. , </a:t>
            </a:r>
            <a:r>
              <a:rPr lang="en-US" sz="1600" dirty="0" err="1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Pellecchia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G. , </a:t>
            </a:r>
            <a:r>
              <a:rPr lang="en-US" sz="1600" dirty="0" err="1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Semerari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 , </a:t>
            </a:r>
            <a:r>
              <a:rPr lang="en-US" sz="1600" dirty="0" err="1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Nicolò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G. , Carcione, A. , </a:t>
            </a:r>
            <a:r>
              <a:rPr lang="en-US" sz="1600" dirty="0" err="1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Pedone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R. &amp; Colle, </a:t>
            </a:r>
          </a:p>
          <a:p>
            <a:pPr eaLnBrk="1" hangingPunct="1"/>
            <a:r>
              <a:rPr lang="en-US" sz="1600" dirty="0">
                <a:solidFill>
                  <a:srgbClr val="23232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L. (2016). Mindreading dysfunction in avoidant personality disorder compared with other personality </a:t>
            </a:r>
          </a:p>
          <a:p>
            <a:pPr eaLnBrk="1" hangingPunct="1"/>
            <a:r>
              <a:rPr lang="en-US" sz="1600" dirty="0">
                <a:solidFill>
                  <a:srgbClr val="23232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disorders. </a:t>
            </a:r>
            <a:r>
              <a:rPr lang="en-US" sz="1600" i="1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Journal of Nervous and Mental Disease, 204 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(10), 752-757.</a:t>
            </a:r>
          </a:p>
          <a:p>
            <a:pPr eaLnBrk="1" hangingPunct="1"/>
            <a:r>
              <a:rPr lang="en-US" sz="1600" dirty="0">
                <a:solidFill>
                  <a:srgbClr val="23232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7"/>
              </a:rPr>
              <a:t>https://doi-org/10.1097/NMD.0000000000000536</a:t>
            </a:r>
            <a:r>
              <a:rPr lang="en-US" sz="1600" dirty="0">
                <a:solidFill>
                  <a:srgbClr val="232323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Olssøn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I., &amp; Dahl, A. A. (2012). Avoidant personality problems–their association with somatic and mental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health, lifestyle, and social network. A community-based study.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Comprehensive Psychiatry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53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(6),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813–821.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8"/>
              </a:rPr>
              <a:t>https://doi.org/10.1016/j.comppsych.2011.10.007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Pos, A. E. (2014). Emotion focused therapy for avoidant personality disorder: Pragmatic considerations for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working with experientially avoidant clients.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 of Contemporary Psychotherapy: On the </a:t>
            </a:r>
          </a:p>
          <a:p>
            <a:pPr eaLnBrk="1" hangingPunct="1"/>
            <a:r>
              <a:rPr lang="en-US" sz="1600" i="1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Cutting Edge of Modern Developments in Psychotherapy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44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(2), 127–139.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https://doi-org.wake.idm.oclc.org/10.1007/s10879-013-9256-6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Schoenleber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, M., &amp;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Berenbaum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, H. (2012). Aversion and proneness to shame in self- and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informant-reported personality disorder symptoms.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Personality Disorders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,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3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(3), 294–304.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</a:rPr>
              <a:t>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https://doi.org/10.1037/a0025654</a:t>
            </a:r>
            <a:endParaRPr lang="en-US" sz="1600" u="sng" dirty="0">
              <a:solidFill>
                <a:srgbClr val="0563C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Snir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A., Bar-Kalifa, E., Berenson, K. R., Downey, G., &amp;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Rafaeli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E. (2017). Affective instability</a:t>
            </a:r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as a clinical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feature of avoidant personality disorder.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Personality Disorders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(4), 389–395.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1"/>
              </a:rPr>
              <a:t>https://doi-org.wake.idm.oclc.org/10.1037/per0000202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Sørensen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K. D.,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Råbu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M., </a:t>
            </a:r>
            <a:r>
              <a:rPr lang="en-US" sz="1600" dirty="0" err="1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Wilberg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T., &amp; Berthelsen, E. (2019). Struggling to be a person: lived 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experience of avoidant personality disorder.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Journal of Clinical Psychology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en-US" sz="1600" i="1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75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(4), 664–680.</a:t>
            </a:r>
          </a:p>
          <a:p>
            <a:pPr eaLnBrk="1" hangingPunct="1"/>
            <a:r>
              <a:rPr lang="en-US" sz="1600" dirty="0">
                <a:solidFill>
                  <a:srgbClr val="21212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21212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https://doi.org/10.1002/jclp.22740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Weme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 V., </a:t>
            </a:r>
            <a:r>
              <a:rPr lang="en-US" sz="16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Sørensen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K. D., &amp; Binder, P. E. (2023). Agency in avoidant personality disorder: a narrative 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review.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Frontiers in Psychology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1248617.</a:t>
            </a:r>
          </a:p>
          <a:p>
            <a:pPr eaLnBrk="1" hangingPunct="1"/>
            <a:r>
              <a:rPr lang="en-US" sz="1600" dirty="0"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3"/>
              </a:rPr>
              <a:t>https://doi-org.wake.idm.oclc.org/10.3389/fpsyg.2023.1248617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5" descr="Heart">
            <a:extLst>
              <a:ext uri="{FF2B5EF4-FFF2-40B4-BE49-F238E27FC236}">
                <a16:creationId xmlns:a16="http://schemas.microsoft.com/office/drawing/2014/main" id="{2369E7F4-3EB6-BC1C-C984-BCC74630DEEA}"/>
              </a:ext>
            </a:extLst>
          </p:cNvPr>
          <p:cNvPicPr>
            <a:picLocks noGrp="1" noChangeAspect="1"/>
          </p:cNvPicPr>
          <p:nvPr>
            <p:ph type="pic" sz="quarter" idx="135"/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 t="12529" b="12529"/>
          <a:stretch>
            <a:fillRect/>
          </a:stretch>
        </p:blipFill>
        <p:spPr bwMode="auto">
          <a:xfrm>
            <a:off x="-9278938" y="25444450"/>
            <a:ext cx="6810375" cy="5103813"/>
          </a:xfrm>
          <a:ln>
            <a:miter lim="800000"/>
            <a:headEnd/>
            <a:tailEnd/>
          </a:ln>
        </p:spPr>
      </p:pic>
      <p:sp>
        <p:nvSpPr>
          <p:cNvPr id="3090" name="Text Placeholder 20">
            <a:extLst>
              <a:ext uri="{FF2B5EF4-FFF2-40B4-BE49-F238E27FC236}">
                <a16:creationId xmlns:a16="http://schemas.microsoft.com/office/drawing/2014/main" id="{63355140-583D-8A9A-08AF-CF68A798CE25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 bwMode="auto">
          <a:xfrm>
            <a:off x="11242675" y="2387600"/>
            <a:ext cx="21421725" cy="19192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altLang="en-US" dirty="0"/>
              <a:t>Joy Johnson</a:t>
            </a:r>
          </a:p>
          <a:p>
            <a:pPr eaLnBrk="1" hangingPunct="1"/>
            <a:r>
              <a:rPr lang="en-US" altLang="en-US" dirty="0"/>
              <a:t>Wake Forest University Department of Counseling</a:t>
            </a:r>
          </a:p>
        </p:txBody>
      </p:sp>
      <p:pic>
        <p:nvPicPr>
          <p:cNvPr id="10" name="Picture Placeholder 9" descr="Heart">
            <a:extLst>
              <a:ext uri="{FF2B5EF4-FFF2-40B4-BE49-F238E27FC236}">
                <a16:creationId xmlns:a16="http://schemas.microsoft.com/office/drawing/2014/main" id="{B5A1EDBF-32EE-9F21-235E-BA9E416227DF}"/>
              </a:ext>
            </a:extLst>
          </p:cNvPr>
          <p:cNvPicPr>
            <a:picLocks noGrp="1" noChangeAspect="1"/>
          </p:cNvPicPr>
          <p:nvPr>
            <p:ph type="pic" sz="quarter" idx="152"/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 t="12529" b="12529"/>
          <a:stretch>
            <a:fillRect/>
          </a:stretch>
        </p:blipFill>
        <p:spPr bwMode="auto">
          <a:xfrm>
            <a:off x="-9278938" y="25444450"/>
            <a:ext cx="6810375" cy="5103813"/>
          </a:xfrm>
          <a:ln>
            <a:miter lim="800000"/>
            <a:headEnd/>
            <a:tailEnd/>
          </a:ln>
        </p:spPr>
      </p:pic>
      <p:pic>
        <p:nvPicPr>
          <p:cNvPr id="23" name="Picture Placeholder 22" descr="Heart">
            <a:extLst>
              <a:ext uri="{FF2B5EF4-FFF2-40B4-BE49-F238E27FC236}">
                <a16:creationId xmlns:a16="http://schemas.microsoft.com/office/drawing/2014/main" id="{1693795E-14DB-7641-2602-E982ADE63F9B}"/>
              </a:ext>
            </a:extLst>
          </p:cNvPr>
          <p:cNvPicPr>
            <a:picLocks noGrp="1" noChangeAspect="1"/>
          </p:cNvPicPr>
          <p:nvPr>
            <p:ph type="pic" sz="quarter" idx="153"/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 t="12529" b="12529"/>
          <a:stretch>
            <a:fillRect/>
          </a:stretch>
        </p:blipFill>
        <p:spPr bwMode="auto">
          <a:xfrm>
            <a:off x="-9278938" y="25444450"/>
            <a:ext cx="6810375" cy="5103813"/>
          </a:xfrm>
          <a:ln>
            <a:miter lim="800000"/>
            <a:headEnd/>
            <a:tailEnd/>
          </a:ln>
        </p:spPr>
      </p:pic>
      <p:pic>
        <p:nvPicPr>
          <p:cNvPr id="25" name="Picture Placeholder 24" descr="Heart">
            <a:extLst>
              <a:ext uri="{FF2B5EF4-FFF2-40B4-BE49-F238E27FC236}">
                <a16:creationId xmlns:a16="http://schemas.microsoft.com/office/drawing/2014/main" id="{991F7B1D-29E8-5187-E323-D4D9C70562EB}"/>
              </a:ext>
            </a:extLst>
          </p:cNvPr>
          <p:cNvPicPr>
            <a:picLocks noGrp="1" noChangeAspect="1"/>
          </p:cNvPicPr>
          <p:nvPr>
            <p:ph type="pic" sz="quarter" idx="154"/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 t="12529" b="12529"/>
          <a:stretch>
            <a:fillRect/>
          </a:stretch>
        </p:blipFill>
        <p:spPr bwMode="auto">
          <a:xfrm>
            <a:off x="-9278938" y="25444450"/>
            <a:ext cx="6810375" cy="5103813"/>
          </a:xfrm>
          <a:ln>
            <a:miter lim="800000"/>
            <a:headEnd/>
            <a:tailEnd/>
          </a:ln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D20AE1B-76D2-E540-400D-CBBA301CCCB1}"/>
              </a:ext>
            </a:extLst>
          </p:cNvPr>
          <p:cNvSpPr>
            <a:spLocks noGrp="1"/>
          </p:cNvSpPr>
          <p:nvPr>
            <p:ph type="body" sz="quarter" idx="167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97" name="Text Placeholder 35">
            <a:extLst>
              <a:ext uri="{FF2B5EF4-FFF2-40B4-BE49-F238E27FC236}">
                <a16:creationId xmlns:a16="http://schemas.microsoft.com/office/drawing/2014/main" id="{74A9103D-8EEE-3644-05DC-9EC35DF3868A}"/>
              </a:ext>
            </a:extLst>
          </p:cNvPr>
          <p:cNvSpPr>
            <a:spLocks noGrp="1"/>
          </p:cNvSpPr>
          <p:nvPr>
            <p:ph type="body" sz="quarter" idx="173"/>
          </p:nvPr>
        </p:nvSpPr>
        <p:spPr bwMode="auto">
          <a:xfrm>
            <a:off x="21626211" y="9024792"/>
            <a:ext cx="10196512" cy="12310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>
                <a:effectLst/>
                <a:ea typeface="Calibri" panose="020F0502020204030204" pitchFamily="34" charset="0"/>
              </a:rPr>
              <a:t>(</a:t>
            </a:r>
            <a:r>
              <a:rPr lang="en-US" dirty="0" err="1">
                <a:effectLst/>
                <a:ea typeface="Calibri" panose="020F0502020204030204" pitchFamily="34" charset="0"/>
              </a:rPr>
              <a:t>Gadassi</a:t>
            </a:r>
            <a:r>
              <a:rPr lang="en-US" dirty="0">
                <a:effectLst/>
                <a:ea typeface="Calibri" panose="020F0502020204030204" pitchFamily="34" charset="0"/>
              </a:rPr>
              <a:t> et al., 2014; Johansen et al., 2013; </a:t>
            </a:r>
            <a:r>
              <a:rPr lang="en-US" dirty="0" err="1">
                <a:effectLst/>
                <a:ea typeface="Calibri" panose="020F0502020204030204" pitchFamily="34" charset="0"/>
              </a:rPr>
              <a:t>Karterud</a:t>
            </a:r>
            <a:r>
              <a:rPr lang="en-US" dirty="0">
                <a:effectLst/>
                <a:ea typeface="Calibri" panose="020F0502020204030204" pitchFamily="34" charset="0"/>
              </a:rPr>
              <a:t> et al., 2016; Lampe, 2016; </a:t>
            </a:r>
            <a:r>
              <a:rPr lang="en-US" dirty="0" err="1">
                <a:effectLst/>
                <a:ea typeface="Calibri" panose="020F0502020204030204" pitchFamily="34" charset="0"/>
              </a:rPr>
              <a:t>Sørensen</a:t>
            </a:r>
            <a:r>
              <a:rPr lang="en-US" dirty="0">
                <a:effectLst/>
                <a:ea typeface="Calibri" panose="020F0502020204030204" pitchFamily="34" charset="0"/>
              </a:rPr>
              <a:t> et al., 2019; and </a:t>
            </a:r>
            <a:r>
              <a:rPr lang="en-US" dirty="0" err="1">
                <a:effectLst/>
                <a:ea typeface="Calibri" panose="020F0502020204030204" pitchFamily="34" charset="0"/>
              </a:rPr>
              <a:t>Weme</a:t>
            </a:r>
            <a:r>
              <a:rPr lang="en-US" dirty="0">
                <a:effectLst/>
                <a:ea typeface="Calibri" panose="020F0502020204030204" pitchFamily="34" charset="0"/>
              </a:rPr>
              <a:t> et al., 2023)</a:t>
            </a:r>
            <a:endParaRPr lang="en-US" altLang="en-US" dirty="0"/>
          </a:p>
        </p:txBody>
      </p:sp>
      <p:sp>
        <p:nvSpPr>
          <p:cNvPr id="3098" name="Text Placeholder 36">
            <a:extLst>
              <a:ext uri="{FF2B5EF4-FFF2-40B4-BE49-F238E27FC236}">
                <a16:creationId xmlns:a16="http://schemas.microsoft.com/office/drawing/2014/main" id="{8C71FBAC-B5D2-3D76-4111-DD42898FA22F}"/>
              </a:ext>
            </a:extLst>
          </p:cNvPr>
          <p:cNvSpPr>
            <a:spLocks noGrp="1"/>
          </p:cNvSpPr>
          <p:nvPr>
            <p:ph type="body" sz="quarter" idx="174"/>
          </p:nvPr>
        </p:nvSpPr>
        <p:spPr bwMode="auto">
          <a:xfrm>
            <a:off x="11590104" y="21781475"/>
            <a:ext cx="20617096" cy="58908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b="1" i="1" dirty="0"/>
              <a:t>Treatment Implications for the Therapeutic Relationship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ea typeface="Calibri" panose="020F0502020204030204" pitchFamily="34" charset="0"/>
              </a:rPr>
              <a:t>Distrust of others, hypersensitivity to criticism and rejection, and avoidant coping modes all present obstacles to the therapist (Lampe &amp; Malhi, 2018)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Elevated likelihood of alliance ruptures; ruptures must be quickly repaired when they occur (</a:t>
            </a:r>
            <a:r>
              <a:rPr lang="en-US" altLang="en-US" sz="2800" dirty="0" err="1"/>
              <a:t>Centonze</a:t>
            </a:r>
            <a:r>
              <a:rPr lang="en-US" altLang="en-US" sz="2800" dirty="0"/>
              <a:t> et al., 2021)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Experiential techniques increase arousal, which offer the client better access to his or her affective experience (</a:t>
            </a:r>
            <a:r>
              <a:rPr lang="en-US" altLang="en-US" sz="2800" dirty="0" err="1"/>
              <a:t>Centonze</a:t>
            </a:r>
            <a:r>
              <a:rPr lang="en-US" altLang="en-US" sz="2800" dirty="0"/>
              <a:t> et al., 2021)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i="1" dirty="0"/>
              <a:t>Effective Interventions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ea typeface="Calibri" panose="020F0502020204030204" pitchFamily="34" charset="0"/>
              </a:rPr>
              <a:t>Outcome research is relatively nascent and primarily case-based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Calibri" panose="020F0502020204030204" pitchFamily="34" charset="0"/>
              </a:rPr>
              <a:t>Therapists subscribing to a variety of theoretical orientations have successfully intervened in clients with </a:t>
            </a:r>
            <a:r>
              <a:rPr lang="en-US" altLang="en-US" sz="2800" dirty="0" err="1">
                <a:ea typeface="Calibri" panose="020F0502020204030204" pitchFamily="34" charset="0"/>
              </a:rPr>
              <a:t>AvPD</a:t>
            </a:r>
            <a:r>
              <a:rPr lang="en-US" altLang="en-US" sz="2800" dirty="0">
                <a:ea typeface="Calibri" panose="020F0502020204030204" pitchFamily="34" charset="0"/>
              </a:rPr>
              <a:t>, including: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  <p:sp>
        <p:nvSpPr>
          <p:cNvPr id="3099" name="Text Placeholder 37">
            <a:extLst>
              <a:ext uri="{FF2B5EF4-FFF2-40B4-BE49-F238E27FC236}">
                <a16:creationId xmlns:a16="http://schemas.microsoft.com/office/drawing/2014/main" id="{F8CBC99F-DE1C-787A-1793-727FA17EA2EB}"/>
              </a:ext>
            </a:extLst>
          </p:cNvPr>
          <p:cNvSpPr>
            <a:spLocks noGrp="1"/>
          </p:cNvSpPr>
          <p:nvPr>
            <p:ph type="body" sz="quarter" idx="175"/>
          </p:nvPr>
        </p:nvSpPr>
        <p:spPr bwMode="auto">
          <a:xfrm>
            <a:off x="517525" y="18717578"/>
            <a:ext cx="10206038" cy="132341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Per </a:t>
            </a:r>
            <a:r>
              <a:rPr lang="en-US" altLang="en-US" sz="2800" dirty="0" err="1"/>
              <a:t>Olssøn</a:t>
            </a:r>
            <a:r>
              <a:rPr lang="en-US" altLang="en-US" sz="2800" dirty="0"/>
              <a:t> and Dahl (2012), avoidant personality problems are associated with: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47F656A-2C9C-1EA0-3E9E-443856957C04}"/>
              </a:ext>
            </a:extLst>
          </p:cNvPr>
          <p:cNvSpPr>
            <a:spLocks noGrp="1"/>
          </p:cNvSpPr>
          <p:nvPr>
            <p:ph type="body" sz="quarter" idx="176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E205A25-67A4-94C7-361D-B0183A8D00C0}"/>
              </a:ext>
            </a:extLst>
          </p:cNvPr>
          <p:cNvSpPr>
            <a:spLocks noGrp="1"/>
          </p:cNvSpPr>
          <p:nvPr>
            <p:ph type="body" sz="quarter" idx="177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B3E6FE4E-C472-01B1-FF6F-0602378BA26C}"/>
              </a:ext>
            </a:extLst>
          </p:cNvPr>
          <p:cNvSpPr>
            <a:spLocks noGrp="1"/>
          </p:cNvSpPr>
          <p:nvPr>
            <p:ph type="body" sz="quarter" idx="178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37BAA96B-FFAC-9D0A-3CFE-D6426A05296C}"/>
              </a:ext>
            </a:extLst>
          </p:cNvPr>
          <p:cNvSpPr>
            <a:spLocks noGrp="1"/>
          </p:cNvSpPr>
          <p:nvPr>
            <p:ph type="body" sz="quarter" idx="179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193D585D-6D97-6A90-2025-A69B613CD9AD}"/>
              </a:ext>
            </a:extLst>
          </p:cNvPr>
          <p:cNvSpPr>
            <a:spLocks noGrp="1"/>
          </p:cNvSpPr>
          <p:nvPr>
            <p:ph type="body" sz="quarter" idx="180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6485C70F-CECD-3706-C20F-014A628B9A4F}"/>
              </a:ext>
            </a:extLst>
          </p:cNvPr>
          <p:cNvSpPr>
            <a:spLocks noGrp="1"/>
          </p:cNvSpPr>
          <p:nvPr>
            <p:ph type="body" sz="quarter" idx="181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B40F60A-BEA8-B671-312D-7AD50710C1E1}"/>
              </a:ext>
            </a:extLst>
          </p:cNvPr>
          <p:cNvSpPr>
            <a:spLocks noGrp="1"/>
          </p:cNvSpPr>
          <p:nvPr>
            <p:ph type="body" sz="quarter" idx="182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282F1B7-278E-6DCE-A896-FE757D8FE099}"/>
              </a:ext>
            </a:extLst>
          </p:cNvPr>
          <p:cNvSpPr>
            <a:spLocks noGrp="1"/>
          </p:cNvSpPr>
          <p:nvPr>
            <p:ph type="body" sz="quarter" idx="183"/>
          </p:nvPr>
        </p:nvSpPr>
        <p:spPr>
          <a:xfrm>
            <a:off x="-10856913" y="18822988"/>
            <a:ext cx="10196513" cy="754062"/>
          </a:xfrm>
        </p:spPr>
        <p:txBody>
          <a:bodyPr/>
          <a:lstStyle/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08" name="Text Placeholder 18">
            <a:extLst>
              <a:ext uri="{FF2B5EF4-FFF2-40B4-BE49-F238E27FC236}">
                <a16:creationId xmlns:a16="http://schemas.microsoft.com/office/drawing/2014/main" id="{A7A96896-2900-7974-7DE3-8492EBA518E5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 bwMode="auto">
          <a:xfrm>
            <a:off x="531813" y="29637655"/>
            <a:ext cx="10039350" cy="8925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Search terms: “avoidant personality disorder” AND emotion</a:t>
            </a:r>
          </a:p>
        </p:txBody>
      </p:sp>
      <p:sp>
        <p:nvSpPr>
          <p:cNvPr id="28" name="Picture Placeholder 19" descr="Heart">
            <a:extLst>
              <a:ext uri="{FF2B5EF4-FFF2-40B4-BE49-F238E27FC236}">
                <a16:creationId xmlns:a16="http://schemas.microsoft.com/office/drawing/2014/main" id="{6A99DE0F-B924-716C-A63C-3A67FC56D8D4}"/>
              </a:ext>
            </a:extLst>
          </p:cNvPr>
          <p:cNvSpPr/>
          <p:nvPr/>
        </p:nvSpPr>
        <p:spPr>
          <a:xfrm>
            <a:off x="1951365" y="20269344"/>
            <a:ext cx="525704" cy="454204"/>
          </a:xfrm>
          <a:custGeom>
            <a:avLst/>
            <a:gdLst>
              <a:gd name="connsiteX0" fmla="*/ 311572 w 623144"/>
              <a:gd name="connsiteY0" fmla="*/ 123072 h 590428"/>
              <a:gd name="connsiteX1" fmla="*/ 0 w 623144"/>
              <a:gd name="connsiteY1" fmla="*/ 159727 h 590428"/>
              <a:gd name="connsiteX2" fmla="*/ 311572 w 623144"/>
              <a:gd name="connsiteY2" fmla="*/ 590429 h 590428"/>
              <a:gd name="connsiteX3" fmla="*/ 623145 w 623144"/>
              <a:gd name="connsiteY3" fmla="*/ 159727 h 590428"/>
              <a:gd name="connsiteX4" fmla="*/ 311572 w 623144"/>
              <a:gd name="connsiteY4" fmla="*/ 123072 h 590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144" h="590428">
                <a:moveTo>
                  <a:pt x="311572" y="123072"/>
                </a:moveTo>
                <a:cubicBezTo>
                  <a:pt x="196107" y="-106025"/>
                  <a:pt x="0" y="31433"/>
                  <a:pt x="0" y="159727"/>
                </a:cubicBezTo>
                <a:cubicBezTo>
                  <a:pt x="0" y="352168"/>
                  <a:pt x="311572" y="590429"/>
                  <a:pt x="311572" y="590429"/>
                </a:cubicBezTo>
                <a:cubicBezTo>
                  <a:pt x="311572" y="590429"/>
                  <a:pt x="623145" y="352168"/>
                  <a:pt x="623145" y="159727"/>
                </a:cubicBezTo>
                <a:cubicBezTo>
                  <a:pt x="623145" y="31433"/>
                  <a:pt x="427038" y="-106025"/>
                  <a:pt x="311572" y="123072"/>
                </a:cubicBezTo>
                <a:close/>
              </a:path>
            </a:pathLst>
          </a:custGeom>
          <a:solidFill>
            <a:srgbClr val="000000"/>
          </a:solidFill>
          <a:ln w="91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110" name="Picture 59">
            <a:extLst>
              <a:ext uri="{FF2B5EF4-FFF2-40B4-BE49-F238E27FC236}">
                <a16:creationId xmlns:a16="http://schemas.microsoft.com/office/drawing/2014/main" id="{7590167D-511A-793C-B349-F1528E5F954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1157288"/>
            <a:ext cx="4273550" cy="250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11" name="Picture Placeholder 61">
            <a:extLst>
              <a:ext uri="{FF2B5EF4-FFF2-40B4-BE49-F238E27FC236}">
                <a16:creationId xmlns:a16="http://schemas.microsoft.com/office/drawing/2014/main" id="{BB1D2535-1162-D421-BA40-4FC94B7D528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88" r="-1588"/>
          <a:stretch>
            <a:fillRect/>
          </a:stretch>
        </p:blipFill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14" name="Text Placeholder 31">
            <a:extLst>
              <a:ext uri="{FF2B5EF4-FFF2-40B4-BE49-F238E27FC236}">
                <a16:creationId xmlns:a16="http://schemas.microsoft.com/office/drawing/2014/main" id="{BA91C85C-2EA6-51CB-3568-74801845E499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 bwMode="auto">
          <a:xfrm>
            <a:off x="15652497" y="11879581"/>
            <a:ext cx="16554702" cy="32193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Findings are mixed, particularly regarding the ability to accurately identify affect in others (Beeney et al., 2015; Moroni et al., 2016)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Evidence for deficits in the ability to maintain one’s own thoughts and feelings in the face of differing thoughts and feelings in others, i.e. “the self-other boundary” (Beeney et al., 2015)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Further research is needed to clarify the extent to which deficits are caused by lack of ability or are the result of an avoidant coping mechanism (</a:t>
            </a:r>
            <a:r>
              <a:rPr lang="en-US" altLang="en-US" sz="2800" dirty="0" err="1"/>
              <a:t>Dimaggio</a:t>
            </a:r>
            <a:r>
              <a:rPr lang="en-US" altLang="en-US" sz="2800" dirty="0"/>
              <a:t> et al., 2007)</a:t>
            </a:r>
          </a:p>
        </p:txBody>
      </p:sp>
      <p:sp>
        <p:nvSpPr>
          <p:cNvPr id="3117" name="Text Placeholder 67">
            <a:extLst>
              <a:ext uri="{FF2B5EF4-FFF2-40B4-BE49-F238E27FC236}">
                <a16:creationId xmlns:a16="http://schemas.microsoft.com/office/drawing/2014/main" id="{294AA81B-A3F0-795B-6EDF-8C35C53CBA9F}"/>
              </a:ext>
            </a:extLst>
          </p:cNvPr>
          <p:cNvSpPr>
            <a:spLocks noGrp="1"/>
          </p:cNvSpPr>
          <p:nvPr>
            <p:ph type="body" sz="quarter" idx="168"/>
          </p:nvPr>
        </p:nvSpPr>
        <p:spPr bwMode="auto">
          <a:xfrm>
            <a:off x="-10855325" y="21783675"/>
            <a:ext cx="10196512" cy="8461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3118" name="Text Placeholder 68">
            <a:extLst>
              <a:ext uri="{FF2B5EF4-FFF2-40B4-BE49-F238E27FC236}">
                <a16:creationId xmlns:a16="http://schemas.microsoft.com/office/drawing/2014/main" id="{68DBAF4B-6577-7444-87F6-22C4826738B6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 bwMode="auto">
          <a:xfrm>
            <a:off x="-10855325" y="21783675"/>
            <a:ext cx="10196512" cy="8461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0A7965-0D18-B652-FB2F-9350875B9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85129"/>
              </p:ext>
            </p:extLst>
          </p:nvPr>
        </p:nvGraphicFramePr>
        <p:xfrm>
          <a:off x="937549" y="7818674"/>
          <a:ext cx="9468092" cy="2115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023">
                  <a:extLst>
                    <a:ext uri="{9D8B030D-6E8A-4147-A177-3AD203B41FA5}">
                      <a16:colId xmlns:a16="http://schemas.microsoft.com/office/drawing/2014/main" val="1581970409"/>
                    </a:ext>
                  </a:extLst>
                </a:gridCol>
                <a:gridCol w="2367023">
                  <a:extLst>
                    <a:ext uri="{9D8B030D-6E8A-4147-A177-3AD203B41FA5}">
                      <a16:colId xmlns:a16="http://schemas.microsoft.com/office/drawing/2014/main" val="1005778232"/>
                    </a:ext>
                  </a:extLst>
                </a:gridCol>
                <a:gridCol w="2367023">
                  <a:extLst>
                    <a:ext uri="{9D8B030D-6E8A-4147-A177-3AD203B41FA5}">
                      <a16:colId xmlns:a16="http://schemas.microsoft.com/office/drawing/2014/main" val="3752630728"/>
                    </a:ext>
                  </a:extLst>
                </a:gridCol>
                <a:gridCol w="2367023">
                  <a:extLst>
                    <a:ext uri="{9D8B030D-6E8A-4147-A177-3AD203B41FA5}">
                      <a16:colId xmlns:a16="http://schemas.microsoft.com/office/drawing/2014/main" val="856150153"/>
                    </a:ext>
                  </a:extLst>
                </a:gridCol>
              </a:tblGrid>
              <a:tr h="2115973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Trebuchet MS" panose="020B0603020202020204" pitchFamily="34" charset="0"/>
                        </a:rPr>
                        <a:t>Dominant &amp; inhibited affective states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Affect awareness in self &amp; others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Maladaptive responses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Implications for treatment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331729"/>
                  </a:ext>
                </a:extLst>
              </a:tr>
            </a:tbl>
          </a:graphicData>
        </a:graphic>
      </p:graphicFrame>
      <p:grpSp>
        <p:nvGrpSpPr>
          <p:cNvPr id="58" name="Group 57">
            <a:extLst>
              <a:ext uri="{FF2B5EF4-FFF2-40B4-BE49-F238E27FC236}">
                <a16:creationId xmlns:a16="http://schemas.microsoft.com/office/drawing/2014/main" id="{14AB35B9-5D1D-28F4-559A-D700C22E4C35}"/>
              </a:ext>
            </a:extLst>
          </p:cNvPr>
          <p:cNvGrpSpPr/>
          <p:nvPr/>
        </p:nvGrpSpPr>
        <p:grpSpPr>
          <a:xfrm>
            <a:off x="1891101" y="21249658"/>
            <a:ext cx="637650" cy="624070"/>
            <a:chOff x="2235119" y="17367205"/>
            <a:chExt cx="6242593" cy="4767031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40A9063-F4E4-0255-C367-2DABB50FD7EF}"/>
                </a:ext>
              </a:extLst>
            </p:cNvPr>
            <p:cNvSpPr/>
            <p:nvPr/>
          </p:nvSpPr>
          <p:spPr>
            <a:xfrm>
              <a:off x="2235119" y="19296718"/>
              <a:ext cx="6242593" cy="2837518"/>
            </a:xfrm>
            <a:custGeom>
              <a:avLst/>
              <a:gdLst>
                <a:gd name="connsiteX0" fmla="*/ 5816962 w 6242593"/>
                <a:gd name="connsiteY0" fmla="*/ 2199077 h 2837518"/>
                <a:gd name="connsiteX1" fmla="*/ 5604147 w 6242593"/>
                <a:gd name="connsiteY1" fmla="*/ 2411891 h 2837518"/>
                <a:gd name="connsiteX2" fmla="*/ 709386 w 6242593"/>
                <a:gd name="connsiteY2" fmla="*/ 2411891 h 2837518"/>
                <a:gd name="connsiteX3" fmla="*/ 425631 w 6242593"/>
                <a:gd name="connsiteY3" fmla="*/ 2128139 h 2837518"/>
                <a:gd name="connsiteX4" fmla="*/ 425631 w 6242593"/>
                <a:gd name="connsiteY4" fmla="*/ 709380 h 2837518"/>
                <a:gd name="connsiteX5" fmla="*/ 709386 w 6242593"/>
                <a:gd name="connsiteY5" fmla="*/ 425628 h 2837518"/>
                <a:gd name="connsiteX6" fmla="*/ 5604147 w 6242593"/>
                <a:gd name="connsiteY6" fmla="*/ 425628 h 2837518"/>
                <a:gd name="connsiteX7" fmla="*/ 5816962 w 6242593"/>
                <a:gd name="connsiteY7" fmla="*/ 638442 h 2837518"/>
                <a:gd name="connsiteX8" fmla="*/ 5816962 w 6242593"/>
                <a:gd name="connsiteY8" fmla="*/ 2199077 h 2837518"/>
                <a:gd name="connsiteX9" fmla="*/ 0 w 6242593"/>
                <a:gd name="connsiteY9" fmla="*/ 0 h 2837518"/>
                <a:gd name="connsiteX10" fmla="*/ 0 w 6242593"/>
                <a:gd name="connsiteY10" fmla="*/ 2837519 h 2837518"/>
                <a:gd name="connsiteX11" fmla="*/ 6242594 w 6242593"/>
                <a:gd name="connsiteY11" fmla="*/ 2837519 h 2837518"/>
                <a:gd name="connsiteX12" fmla="*/ 6242594 w 6242593"/>
                <a:gd name="connsiteY12" fmla="*/ 0 h 2837518"/>
                <a:gd name="connsiteX13" fmla="*/ 0 w 6242593"/>
                <a:gd name="connsiteY13" fmla="*/ 0 h 2837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42593" h="2837518">
                  <a:moveTo>
                    <a:pt x="5816962" y="2199077"/>
                  </a:moveTo>
                  <a:lnTo>
                    <a:pt x="5604147" y="2411891"/>
                  </a:lnTo>
                  <a:lnTo>
                    <a:pt x="709386" y="2411891"/>
                  </a:lnTo>
                  <a:lnTo>
                    <a:pt x="425631" y="2128139"/>
                  </a:lnTo>
                  <a:lnTo>
                    <a:pt x="425631" y="709380"/>
                  </a:lnTo>
                  <a:lnTo>
                    <a:pt x="709386" y="425628"/>
                  </a:lnTo>
                  <a:lnTo>
                    <a:pt x="5604147" y="425628"/>
                  </a:lnTo>
                  <a:lnTo>
                    <a:pt x="5816962" y="638442"/>
                  </a:lnTo>
                  <a:lnTo>
                    <a:pt x="5816962" y="2199077"/>
                  </a:lnTo>
                  <a:close/>
                  <a:moveTo>
                    <a:pt x="0" y="0"/>
                  </a:moveTo>
                  <a:lnTo>
                    <a:pt x="0" y="2837519"/>
                  </a:lnTo>
                  <a:lnTo>
                    <a:pt x="6242594" y="2837519"/>
                  </a:lnTo>
                  <a:lnTo>
                    <a:pt x="62425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0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F738CDA-8385-BF90-84D3-AB689A9C4425}"/>
                </a:ext>
              </a:extLst>
            </p:cNvPr>
            <p:cNvSpPr/>
            <p:nvPr/>
          </p:nvSpPr>
          <p:spPr>
            <a:xfrm>
              <a:off x="4788907" y="20006098"/>
              <a:ext cx="1135017" cy="1418759"/>
            </a:xfrm>
            <a:custGeom>
              <a:avLst/>
              <a:gdLst>
                <a:gd name="connsiteX0" fmla="*/ 1135017 w 1135017"/>
                <a:gd name="connsiteY0" fmla="*/ 709380 h 1418759"/>
                <a:gd name="connsiteX1" fmla="*/ 567509 w 1135017"/>
                <a:gd name="connsiteY1" fmla="*/ 1418759 h 1418759"/>
                <a:gd name="connsiteX2" fmla="*/ 0 w 1135017"/>
                <a:gd name="connsiteY2" fmla="*/ 709380 h 1418759"/>
                <a:gd name="connsiteX3" fmla="*/ 567509 w 1135017"/>
                <a:gd name="connsiteY3" fmla="*/ 0 h 1418759"/>
                <a:gd name="connsiteX4" fmla="*/ 1135017 w 1135017"/>
                <a:gd name="connsiteY4" fmla="*/ 709380 h 1418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17" h="1418759">
                  <a:moveTo>
                    <a:pt x="1135017" y="709380"/>
                  </a:moveTo>
                  <a:cubicBezTo>
                    <a:pt x="1135017" y="1101159"/>
                    <a:pt x="880935" y="1418759"/>
                    <a:pt x="567509" y="1418759"/>
                  </a:cubicBezTo>
                  <a:cubicBezTo>
                    <a:pt x="254082" y="1418759"/>
                    <a:pt x="0" y="1101159"/>
                    <a:pt x="0" y="709380"/>
                  </a:cubicBezTo>
                  <a:cubicBezTo>
                    <a:pt x="0" y="317600"/>
                    <a:pt x="254082" y="0"/>
                    <a:pt x="567509" y="0"/>
                  </a:cubicBezTo>
                  <a:cubicBezTo>
                    <a:pt x="880935" y="0"/>
                    <a:pt x="1135017" y="317600"/>
                    <a:pt x="1135017" y="709380"/>
                  </a:cubicBezTo>
                  <a:close/>
                </a:path>
              </a:pathLst>
            </a:custGeom>
            <a:solidFill>
              <a:srgbClr val="000000"/>
            </a:solidFill>
            <a:ln w="70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D7256EB-AC72-A162-DE0A-089108307C99}"/>
                </a:ext>
              </a:extLst>
            </p:cNvPr>
            <p:cNvSpPr/>
            <p:nvPr/>
          </p:nvSpPr>
          <p:spPr>
            <a:xfrm>
              <a:off x="3370136" y="20502664"/>
              <a:ext cx="425631" cy="425627"/>
            </a:xfrm>
            <a:custGeom>
              <a:avLst/>
              <a:gdLst>
                <a:gd name="connsiteX0" fmla="*/ 425631 w 425631"/>
                <a:gd name="connsiteY0" fmla="*/ 212814 h 425627"/>
                <a:gd name="connsiteX1" fmla="*/ 212816 w 425631"/>
                <a:gd name="connsiteY1" fmla="*/ 425628 h 425627"/>
                <a:gd name="connsiteX2" fmla="*/ 0 w 425631"/>
                <a:gd name="connsiteY2" fmla="*/ 212814 h 425627"/>
                <a:gd name="connsiteX3" fmla="*/ 212816 w 425631"/>
                <a:gd name="connsiteY3" fmla="*/ 0 h 425627"/>
                <a:gd name="connsiteX4" fmla="*/ 425631 w 425631"/>
                <a:gd name="connsiteY4" fmla="*/ 212814 h 42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631" h="425627">
                  <a:moveTo>
                    <a:pt x="425631" y="212814"/>
                  </a:moveTo>
                  <a:cubicBezTo>
                    <a:pt x="425631" y="330348"/>
                    <a:pt x="330351" y="425628"/>
                    <a:pt x="212816" y="425628"/>
                  </a:cubicBezTo>
                  <a:cubicBezTo>
                    <a:pt x="95281" y="425628"/>
                    <a:pt x="0" y="330348"/>
                    <a:pt x="0" y="212814"/>
                  </a:cubicBezTo>
                  <a:cubicBezTo>
                    <a:pt x="0" y="95280"/>
                    <a:pt x="95281" y="0"/>
                    <a:pt x="212816" y="0"/>
                  </a:cubicBezTo>
                  <a:cubicBezTo>
                    <a:pt x="330351" y="0"/>
                    <a:pt x="425631" y="95280"/>
                    <a:pt x="425631" y="212814"/>
                  </a:cubicBezTo>
                  <a:close/>
                </a:path>
              </a:pathLst>
            </a:custGeom>
            <a:solidFill>
              <a:srgbClr val="000000"/>
            </a:solidFill>
            <a:ln w="70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C1E14F4-8A4F-086C-0F10-229A92AE50F7}"/>
                </a:ext>
              </a:extLst>
            </p:cNvPr>
            <p:cNvSpPr/>
            <p:nvPr/>
          </p:nvSpPr>
          <p:spPr>
            <a:xfrm>
              <a:off x="6917064" y="20502664"/>
              <a:ext cx="425631" cy="425627"/>
            </a:xfrm>
            <a:custGeom>
              <a:avLst/>
              <a:gdLst>
                <a:gd name="connsiteX0" fmla="*/ 425631 w 425631"/>
                <a:gd name="connsiteY0" fmla="*/ 212814 h 425627"/>
                <a:gd name="connsiteX1" fmla="*/ 212816 w 425631"/>
                <a:gd name="connsiteY1" fmla="*/ 425628 h 425627"/>
                <a:gd name="connsiteX2" fmla="*/ 0 w 425631"/>
                <a:gd name="connsiteY2" fmla="*/ 212814 h 425627"/>
                <a:gd name="connsiteX3" fmla="*/ 212816 w 425631"/>
                <a:gd name="connsiteY3" fmla="*/ 0 h 425627"/>
                <a:gd name="connsiteX4" fmla="*/ 425631 w 425631"/>
                <a:gd name="connsiteY4" fmla="*/ 212814 h 42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631" h="425627">
                  <a:moveTo>
                    <a:pt x="425631" y="212814"/>
                  </a:moveTo>
                  <a:cubicBezTo>
                    <a:pt x="425631" y="330348"/>
                    <a:pt x="330350" y="425628"/>
                    <a:pt x="212816" y="425628"/>
                  </a:cubicBezTo>
                  <a:cubicBezTo>
                    <a:pt x="95281" y="425628"/>
                    <a:pt x="0" y="330348"/>
                    <a:pt x="0" y="212814"/>
                  </a:cubicBezTo>
                  <a:cubicBezTo>
                    <a:pt x="0" y="95280"/>
                    <a:pt x="95281" y="0"/>
                    <a:pt x="212816" y="0"/>
                  </a:cubicBezTo>
                  <a:cubicBezTo>
                    <a:pt x="330350" y="0"/>
                    <a:pt x="425631" y="95280"/>
                    <a:pt x="425631" y="212814"/>
                  </a:cubicBezTo>
                  <a:close/>
                </a:path>
              </a:pathLst>
            </a:custGeom>
            <a:solidFill>
              <a:srgbClr val="000000"/>
            </a:solidFill>
            <a:ln w="70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18725B1-5663-2BA6-D5B9-ADBFC47A00AB}"/>
                </a:ext>
              </a:extLst>
            </p:cNvPr>
            <p:cNvSpPr/>
            <p:nvPr/>
          </p:nvSpPr>
          <p:spPr>
            <a:xfrm>
              <a:off x="3043818" y="17367205"/>
              <a:ext cx="4114436" cy="1560635"/>
            </a:xfrm>
            <a:custGeom>
              <a:avLst/>
              <a:gdLst>
                <a:gd name="connsiteX0" fmla="*/ 3582398 w 4114436"/>
                <a:gd name="connsiteY0" fmla="*/ 560410 h 1560635"/>
                <a:gd name="connsiteX1" fmla="*/ 3688806 w 4114436"/>
                <a:gd name="connsiteY1" fmla="*/ 829974 h 1560635"/>
                <a:gd name="connsiteX2" fmla="*/ 4114437 w 4114436"/>
                <a:gd name="connsiteY2" fmla="*/ 744849 h 1560635"/>
                <a:gd name="connsiteX3" fmla="*/ 3816495 w 4114436"/>
                <a:gd name="connsiteY3" fmla="*/ 0 h 1560635"/>
                <a:gd name="connsiteX4" fmla="*/ 0 w 4114436"/>
                <a:gd name="connsiteY4" fmla="*/ 1560635 h 1560635"/>
                <a:gd name="connsiteX5" fmla="*/ 2184908 w 4114436"/>
                <a:gd name="connsiteY5" fmla="*/ 1127914 h 1560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436" h="1560635">
                  <a:moveTo>
                    <a:pt x="3582398" y="560410"/>
                  </a:moveTo>
                  <a:lnTo>
                    <a:pt x="3688806" y="829974"/>
                  </a:lnTo>
                  <a:lnTo>
                    <a:pt x="4114437" y="744849"/>
                  </a:lnTo>
                  <a:lnTo>
                    <a:pt x="3816495" y="0"/>
                  </a:lnTo>
                  <a:lnTo>
                    <a:pt x="0" y="1560635"/>
                  </a:lnTo>
                  <a:lnTo>
                    <a:pt x="2184908" y="1127914"/>
                  </a:lnTo>
                  <a:close/>
                </a:path>
              </a:pathLst>
            </a:custGeom>
            <a:solidFill>
              <a:srgbClr val="000000"/>
            </a:solidFill>
            <a:ln w="70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8661AD1-45DA-8C70-45A2-BEDF9C6B53FC}"/>
                </a:ext>
              </a:extLst>
            </p:cNvPr>
            <p:cNvSpPr/>
            <p:nvPr/>
          </p:nvSpPr>
          <p:spPr>
            <a:xfrm>
              <a:off x="4079521" y="18289399"/>
              <a:ext cx="3781025" cy="723567"/>
            </a:xfrm>
            <a:custGeom>
              <a:avLst/>
              <a:gdLst>
                <a:gd name="connsiteX0" fmla="*/ 2177814 w 3781025"/>
                <a:gd name="connsiteY0" fmla="*/ 723567 h 723567"/>
                <a:gd name="connsiteX1" fmla="*/ 3298643 w 3781025"/>
                <a:gd name="connsiteY1" fmla="*/ 503660 h 723567"/>
                <a:gd name="connsiteX2" fmla="*/ 3348300 w 3781025"/>
                <a:gd name="connsiteY2" fmla="*/ 723567 h 723567"/>
                <a:gd name="connsiteX3" fmla="*/ 3781026 w 3781025"/>
                <a:gd name="connsiteY3" fmla="*/ 723567 h 723567"/>
                <a:gd name="connsiteX4" fmla="*/ 3639149 w 3781025"/>
                <a:gd name="connsiteY4" fmla="*/ 0 h 723567"/>
                <a:gd name="connsiteX5" fmla="*/ 0 w 3781025"/>
                <a:gd name="connsiteY5" fmla="*/ 723567 h 72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1025" h="723567">
                  <a:moveTo>
                    <a:pt x="2177814" y="723567"/>
                  </a:moveTo>
                  <a:lnTo>
                    <a:pt x="3298643" y="503660"/>
                  </a:lnTo>
                  <a:lnTo>
                    <a:pt x="3348300" y="723567"/>
                  </a:lnTo>
                  <a:lnTo>
                    <a:pt x="3781026" y="723567"/>
                  </a:lnTo>
                  <a:lnTo>
                    <a:pt x="3639149" y="0"/>
                  </a:lnTo>
                  <a:lnTo>
                    <a:pt x="0" y="723567"/>
                  </a:lnTo>
                  <a:close/>
                </a:path>
              </a:pathLst>
            </a:custGeom>
            <a:solidFill>
              <a:srgbClr val="000000"/>
            </a:solidFill>
            <a:ln w="708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1AB0AA14-6D02-139D-6851-6B2EFB208218}"/>
              </a:ext>
            </a:extLst>
          </p:cNvPr>
          <p:cNvSpPr/>
          <p:nvPr/>
        </p:nvSpPr>
        <p:spPr>
          <a:xfrm>
            <a:off x="1759439" y="20039034"/>
            <a:ext cx="899044" cy="892530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D5C4C53-6F2F-3476-111C-7F185F9EB0AB}"/>
              </a:ext>
            </a:extLst>
          </p:cNvPr>
          <p:cNvCxnSpPr>
            <a:cxnSpLocks/>
            <a:stCxn id="21" idx="1"/>
            <a:endCxn id="21" idx="5"/>
          </p:cNvCxnSpPr>
          <p:nvPr/>
        </p:nvCxnSpPr>
        <p:spPr>
          <a:xfrm>
            <a:off x="1891101" y="20169742"/>
            <a:ext cx="635720" cy="63111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37">
            <a:extLst>
              <a:ext uri="{FF2B5EF4-FFF2-40B4-BE49-F238E27FC236}">
                <a16:creationId xmlns:a16="http://schemas.microsoft.com/office/drawing/2014/main" id="{1E572923-F7CC-AAF2-2A3A-8D01D535BC46}"/>
              </a:ext>
            </a:extLst>
          </p:cNvPr>
          <p:cNvSpPr txBox="1">
            <a:spLocks/>
          </p:cNvSpPr>
          <p:nvPr/>
        </p:nvSpPr>
        <p:spPr bwMode="auto">
          <a:xfrm>
            <a:off x="2681138" y="19839909"/>
            <a:ext cx="7490123" cy="132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 baseline="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Lower rates of marriage/cohabitation &amp; limited friendships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61CE9D4-F3D9-DCAB-58AB-1A1F472FB858}"/>
              </a:ext>
            </a:extLst>
          </p:cNvPr>
          <p:cNvSpPr/>
          <p:nvPr/>
        </p:nvSpPr>
        <p:spPr>
          <a:xfrm>
            <a:off x="1761369" y="21175282"/>
            <a:ext cx="899044" cy="892530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659BC-FAEF-68C2-67F9-FFEC8C4D83B0}"/>
              </a:ext>
            </a:extLst>
          </p:cNvPr>
          <p:cNvCxnSpPr>
            <a:cxnSpLocks/>
            <a:stCxn id="35" idx="1"/>
            <a:endCxn id="35" idx="5"/>
          </p:cNvCxnSpPr>
          <p:nvPr/>
        </p:nvCxnSpPr>
        <p:spPr>
          <a:xfrm>
            <a:off x="1893031" y="21305990"/>
            <a:ext cx="635720" cy="63111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37">
            <a:extLst>
              <a:ext uri="{FF2B5EF4-FFF2-40B4-BE49-F238E27FC236}">
                <a16:creationId xmlns:a16="http://schemas.microsoft.com/office/drawing/2014/main" id="{6F80D247-60E8-9E79-8043-0EDB4191E8F0}"/>
              </a:ext>
            </a:extLst>
          </p:cNvPr>
          <p:cNvSpPr txBox="1">
            <a:spLocks/>
          </p:cNvSpPr>
          <p:nvPr/>
        </p:nvSpPr>
        <p:spPr bwMode="auto">
          <a:xfrm>
            <a:off x="2741088" y="21175282"/>
            <a:ext cx="7490123" cy="8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 baseline="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Increased unemployment</a:t>
            </a:r>
          </a:p>
        </p:txBody>
      </p:sp>
      <p:sp>
        <p:nvSpPr>
          <p:cNvPr id="62" name="Text Placeholder 37">
            <a:extLst>
              <a:ext uri="{FF2B5EF4-FFF2-40B4-BE49-F238E27FC236}">
                <a16:creationId xmlns:a16="http://schemas.microsoft.com/office/drawing/2014/main" id="{A25E785E-ED1B-6F3C-468E-4F8B84B63A1C}"/>
              </a:ext>
            </a:extLst>
          </p:cNvPr>
          <p:cNvSpPr txBox="1">
            <a:spLocks/>
          </p:cNvSpPr>
          <p:nvPr/>
        </p:nvSpPr>
        <p:spPr bwMode="auto">
          <a:xfrm>
            <a:off x="2739158" y="22277384"/>
            <a:ext cx="7490123" cy="8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 baseline="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Increased disability/poorer physical health</a:t>
            </a:r>
          </a:p>
        </p:txBody>
      </p:sp>
      <p:grpSp>
        <p:nvGrpSpPr>
          <p:cNvPr id="3080" name="Group 3079">
            <a:extLst>
              <a:ext uri="{FF2B5EF4-FFF2-40B4-BE49-F238E27FC236}">
                <a16:creationId xmlns:a16="http://schemas.microsoft.com/office/drawing/2014/main" id="{08FA53DD-F903-2F48-3815-847F9F74ED1F}"/>
              </a:ext>
            </a:extLst>
          </p:cNvPr>
          <p:cNvGrpSpPr/>
          <p:nvPr/>
        </p:nvGrpSpPr>
        <p:grpSpPr>
          <a:xfrm>
            <a:off x="1810877" y="22338412"/>
            <a:ext cx="847606" cy="814696"/>
            <a:chOff x="1892044" y="17156158"/>
            <a:chExt cx="682163" cy="682160"/>
          </a:xfrm>
        </p:grpSpPr>
        <p:sp>
          <p:nvSpPr>
            <p:cNvPr id="3077" name="Freeform: Shape 3076">
              <a:extLst>
                <a:ext uri="{FF2B5EF4-FFF2-40B4-BE49-F238E27FC236}">
                  <a16:creationId xmlns:a16="http://schemas.microsoft.com/office/drawing/2014/main" id="{A0D5E7E7-E2EC-8EDE-BE7E-7DDDEC14B6F4}"/>
                </a:ext>
              </a:extLst>
            </p:cNvPr>
            <p:cNvSpPr/>
            <p:nvPr/>
          </p:nvSpPr>
          <p:spPr>
            <a:xfrm flipH="1">
              <a:off x="1892044" y="17156158"/>
              <a:ext cx="682163" cy="682160"/>
            </a:xfrm>
            <a:custGeom>
              <a:avLst/>
              <a:gdLst>
                <a:gd name="connsiteX0" fmla="*/ 341082 w 682163"/>
                <a:gd name="connsiteY0" fmla="*/ 53855 h 682160"/>
                <a:gd name="connsiteX1" fmla="*/ 53855 w 682163"/>
                <a:gd name="connsiteY1" fmla="*/ 341081 h 682160"/>
                <a:gd name="connsiteX2" fmla="*/ 341082 w 682163"/>
                <a:gd name="connsiteY2" fmla="*/ 628306 h 682160"/>
                <a:gd name="connsiteX3" fmla="*/ 628308 w 682163"/>
                <a:gd name="connsiteY3" fmla="*/ 341081 h 682160"/>
                <a:gd name="connsiteX4" fmla="*/ 341082 w 682163"/>
                <a:gd name="connsiteY4" fmla="*/ 53855 h 682160"/>
                <a:gd name="connsiteX5" fmla="*/ 341082 w 682163"/>
                <a:gd name="connsiteY5" fmla="*/ 682161 h 682160"/>
                <a:gd name="connsiteX6" fmla="*/ 0 w 682163"/>
                <a:gd name="connsiteY6" fmla="*/ 341081 h 682160"/>
                <a:gd name="connsiteX7" fmla="*/ 341082 w 682163"/>
                <a:gd name="connsiteY7" fmla="*/ 0 h 682160"/>
                <a:gd name="connsiteX8" fmla="*/ 682163 w 682163"/>
                <a:gd name="connsiteY8" fmla="*/ 341081 h 682160"/>
                <a:gd name="connsiteX9" fmla="*/ 341082 w 682163"/>
                <a:gd name="connsiteY9" fmla="*/ 682161 h 6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2163" h="682160">
                  <a:moveTo>
                    <a:pt x="341082" y="53855"/>
                  </a:moveTo>
                  <a:cubicBezTo>
                    <a:pt x="182209" y="53855"/>
                    <a:pt x="53855" y="182209"/>
                    <a:pt x="53855" y="341081"/>
                  </a:cubicBezTo>
                  <a:cubicBezTo>
                    <a:pt x="53855" y="499952"/>
                    <a:pt x="182209" y="628306"/>
                    <a:pt x="341082" y="628306"/>
                  </a:cubicBezTo>
                  <a:cubicBezTo>
                    <a:pt x="499954" y="628306"/>
                    <a:pt x="628308" y="499952"/>
                    <a:pt x="628308" y="341081"/>
                  </a:cubicBezTo>
                  <a:cubicBezTo>
                    <a:pt x="628308" y="182209"/>
                    <a:pt x="499954" y="53855"/>
                    <a:pt x="341082" y="53855"/>
                  </a:cubicBezTo>
                  <a:close/>
                  <a:moveTo>
                    <a:pt x="341082" y="682161"/>
                  </a:moveTo>
                  <a:cubicBezTo>
                    <a:pt x="152589" y="682161"/>
                    <a:pt x="0" y="529572"/>
                    <a:pt x="0" y="341081"/>
                  </a:cubicBezTo>
                  <a:cubicBezTo>
                    <a:pt x="0" y="152589"/>
                    <a:pt x="152589" y="0"/>
                    <a:pt x="341082" y="0"/>
                  </a:cubicBezTo>
                  <a:cubicBezTo>
                    <a:pt x="529574" y="0"/>
                    <a:pt x="682163" y="152589"/>
                    <a:pt x="682163" y="341081"/>
                  </a:cubicBezTo>
                  <a:cubicBezTo>
                    <a:pt x="682163" y="529572"/>
                    <a:pt x="529574" y="682161"/>
                    <a:pt x="341082" y="682161"/>
                  </a:cubicBezTo>
                  <a:close/>
                </a:path>
              </a:pathLst>
            </a:custGeom>
            <a:solidFill>
              <a:srgbClr val="000000"/>
            </a:soli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8" name="Freeform: Shape 3077">
              <a:extLst>
                <a:ext uri="{FF2B5EF4-FFF2-40B4-BE49-F238E27FC236}">
                  <a16:creationId xmlns:a16="http://schemas.microsoft.com/office/drawing/2014/main" id="{56AFF85E-7A5F-FF3C-D247-CD6825A3E888}"/>
                </a:ext>
              </a:extLst>
            </p:cNvPr>
            <p:cNvSpPr/>
            <p:nvPr/>
          </p:nvSpPr>
          <p:spPr>
            <a:xfrm flipH="1">
              <a:off x="2017705" y="17281819"/>
              <a:ext cx="430840" cy="430838"/>
            </a:xfrm>
            <a:custGeom>
              <a:avLst/>
              <a:gdLst>
                <a:gd name="connsiteX0" fmla="*/ 394937 w 430840"/>
                <a:gd name="connsiteY0" fmla="*/ 143613 h 430838"/>
                <a:gd name="connsiteX1" fmla="*/ 287227 w 430840"/>
                <a:gd name="connsiteY1" fmla="*/ 143613 h 430838"/>
                <a:gd name="connsiteX2" fmla="*/ 287227 w 430840"/>
                <a:gd name="connsiteY2" fmla="*/ 35903 h 430838"/>
                <a:gd name="connsiteX3" fmla="*/ 251323 w 430840"/>
                <a:gd name="connsiteY3" fmla="*/ 0 h 430838"/>
                <a:gd name="connsiteX4" fmla="*/ 179517 w 430840"/>
                <a:gd name="connsiteY4" fmla="*/ 0 h 430838"/>
                <a:gd name="connsiteX5" fmla="*/ 143613 w 430840"/>
                <a:gd name="connsiteY5" fmla="*/ 35903 h 430838"/>
                <a:gd name="connsiteX6" fmla="*/ 143613 w 430840"/>
                <a:gd name="connsiteY6" fmla="*/ 143613 h 430838"/>
                <a:gd name="connsiteX7" fmla="*/ 35903 w 430840"/>
                <a:gd name="connsiteY7" fmla="*/ 143613 h 430838"/>
                <a:gd name="connsiteX8" fmla="*/ 0 w 430840"/>
                <a:gd name="connsiteY8" fmla="*/ 179516 h 430838"/>
                <a:gd name="connsiteX9" fmla="*/ 0 w 430840"/>
                <a:gd name="connsiteY9" fmla="*/ 251322 h 430838"/>
                <a:gd name="connsiteX10" fmla="*/ 35903 w 430840"/>
                <a:gd name="connsiteY10" fmla="*/ 287226 h 430838"/>
                <a:gd name="connsiteX11" fmla="*/ 143613 w 430840"/>
                <a:gd name="connsiteY11" fmla="*/ 287226 h 430838"/>
                <a:gd name="connsiteX12" fmla="*/ 143613 w 430840"/>
                <a:gd name="connsiteY12" fmla="*/ 394935 h 430838"/>
                <a:gd name="connsiteX13" fmla="*/ 179517 w 430840"/>
                <a:gd name="connsiteY13" fmla="*/ 430839 h 430838"/>
                <a:gd name="connsiteX14" fmla="*/ 251323 w 430840"/>
                <a:gd name="connsiteY14" fmla="*/ 430839 h 430838"/>
                <a:gd name="connsiteX15" fmla="*/ 287227 w 430840"/>
                <a:gd name="connsiteY15" fmla="*/ 394935 h 430838"/>
                <a:gd name="connsiteX16" fmla="*/ 287227 w 430840"/>
                <a:gd name="connsiteY16" fmla="*/ 287226 h 430838"/>
                <a:gd name="connsiteX17" fmla="*/ 394937 w 430840"/>
                <a:gd name="connsiteY17" fmla="*/ 287226 h 430838"/>
                <a:gd name="connsiteX18" fmla="*/ 430840 w 430840"/>
                <a:gd name="connsiteY18" fmla="*/ 251322 h 430838"/>
                <a:gd name="connsiteX19" fmla="*/ 430840 w 430840"/>
                <a:gd name="connsiteY19" fmla="*/ 179516 h 430838"/>
                <a:gd name="connsiteX20" fmla="*/ 394937 w 430840"/>
                <a:gd name="connsiteY20" fmla="*/ 143613 h 43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0840" h="430838">
                  <a:moveTo>
                    <a:pt x="394937" y="143613"/>
                  </a:moveTo>
                  <a:lnTo>
                    <a:pt x="287227" y="143613"/>
                  </a:lnTo>
                  <a:lnTo>
                    <a:pt x="287227" y="35903"/>
                  </a:lnTo>
                  <a:cubicBezTo>
                    <a:pt x="287227" y="16156"/>
                    <a:pt x="271070" y="0"/>
                    <a:pt x="251323" y="0"/>
                  </a:cubicBezTo>
                  <a:lnTo>
                    <a:pt x="179517" y="0"/>
                  </a:lnTo>
                  <a:cubicBezTo>
                    <a:pt x="159770" y="0"/>
                    <a:pt x="143613" y="16156"/>
                    <a:pt x="143613" y="35903"/>
                  </a:cubicBezTo>
                  <a:lnTo>
                    <a:pt x="143613" y="143613"/>
                  </a:lnTo>
                  <a:lnTo>
                    <a:pt x="35903" y="143613"/>
                  </a:lnTo>
                  <a:cubicBezTo>
                    <a:pt x="16156" y="143613"/>
                    <a:pt x="0" y="159769"/>
                    <a:pt x="0" y="179516"/>
                  </a:cubicBezTo>
                  <a:lnTo>
                    <a:pt x="0" y="251322"/>
                  </a:lnTo>
                  <a:cubicBezTo>
                    <a:pt x="0" y="271069"/>
                    <a:pt x="16156" y="287226"/>
                    <a:pt x="35903" y="287226"/>
                  </a:cubicBezTo>
                  <a:lnTo>
                    <a:pt x="143613" y="287226"/>
                  </a:lnTo>
                  <a:lnTo>
                    <a:pt x="143613" y="394935"/>
                  </a:lnTo>
                  <a:cubicBezTo>
                    <a:pt x="143613" y="414682"/>
                    <a:pt x="159770" y="430839"/>
                    <a:pt x="179517" y="430839"/>
                  </a:cubicBezTo>
                  <a:lnTo>
                    <a:pt x="251323" y="430839"/>
                  </a:lnTo>
                  <a:cubicBezTo>
                    <a:pt x="271070" y="430839"/>
                    <a:pt x="287227" y="414682"/>
                    <a:pt x="287227" y="394935"/>
                  </a:cubicBezTo>
                  <a:lnTo>
                    <a:pt x="287227" y="287226"/>
                  </a:lnTo>
                  <a:lnTo>
                    <a:pt x="394937" y="287226"/>
                  </a:lnTo>
                  <a:cubicBezTo>
                    <a:pt x="414683" y="287226"/>
                    <a:pt x="430840" y="271069"/>
                    <a:pt x="430840" y="251322"/>
                  </a:cubicBezTo>
                  <a:lnTo>
                    <a:pt x="430840" y="179516"/>
                  </a:lnTo>
                  <a:cubicBezTo>
                    <a:pt x="430840" y="159769"/>
                    <a:pt x="414683" y="143613"/>
                    <a:pt x="394937" y="143613"/>
                  </a:cubicBezTo>
                  <a:close/>
                </a:path>
              </a:pathLst>
            </a:custGeom>
            <a:solidFill>
              <a:srgbClr val="000000"/>
            </a:soli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03" name="Picture Placeholder 24" descr="Martini">
            <a:extLst>
              <a:ext uri="{FF2B5EF4-FFF2-40B4-BE49-F238E27FC236}">
                <a16:creationId xmlns:a16="http://schemas.microsoft.com/office/drawing/2014/main" id="{7210D2C7-9767-EB3F-BDE8-BE36058E753D}"/>
              </a:ext>
            </a:extLst>
          </p:cNvPr>
          <p:cNvSpPr/>
          <p:nvPr/>
        </p:nvSpPr>
        <p:spPr>
          <a:xfrm>
            <a:off x="1932181" y="24404612"/>
            <a:ext cx="703152" cy="642966"/>
          </a:xfrm>
          <a:custGeom>
            <a:avLst/>
            <a:gdLst>
              <a:gd name="connsiteX0" fmla="*/ 390645 w 597456"/>
              <a:gd name="connsiteY0" fmla="*/ 107710 h 610354"/>
              <a:gd name="connsiteX1" fmla="*/ 336790 w 597456"/>
              <a:gd name="connsiteY1" fmla="*/ 161564 h 610354"/>
              <a:gd name="connsiteX2" fmla="*/ 134834 w 597456"/>
              <a:gd name="connsiteY2" fmla="*/ 161564 h 610354"/>
              <a:gd name="connsiteX3" fmla="*/ 80979 w 597456"/>
              <a:gd name="connsiteY3" fmla="*/ 107710 h 610354"/>
              <a:gd name="connsiteX4" fmla="*/ 390645 w 597456"/>
              <a:gd name="connsiteY4" fmla="*/ 107710 h 610354"/>
              <a:gd name="connsiteX5" fmla="*/ 440910 w 597456"/>
              <a:gd name="connsiteY5" fmla="*/ 107710 h 610354"/>
              <a:gd name="connsiteX6" fmla="*/ 517204 w 597456"/>
              <a:gd name="connsiteY6" fmla="*/ 107710 h 610354"/>
              <a:gd name="connsiteX7" fmla="*/ 463349 w 597456"/>
              <a:gd name="connsiteY7" fmla="*/ 161564 h 610354"/>
              <a:gd name="connsiteX8" fmla="*/ 387055 w 597456"/>
              <a:gd name="connsiteY8" fmla="*/ 161564 h 610354"/>
              <a:gd name="connsiteX9" fmla="*/ 440910 w 597456"/>
              <a:gd name="connsiteY9" fmla="*/ 107710 h 610354"/>
              <a:gd name="connsiteX10" fmla="*/ 299092 w 597456"/>
              <a:gd name="connsiteY10" fmla="*/ 251322 h 610354"/>
              <a:gd name="connsiteX11" fmla="*/ 272164 w 597456"/>
              <a:gd name="connsiteY11" fmla="*/ 224395 h 610354"/>
              <a:gd name="connsiteX12" fmla="*/ 299092 w 597456"/>
              <a:gd name="connsiteY12" fmla="*/ 197468 h 610354"/>
              <a:gd name="connsiteX13" fmla="*/ 326019 w 597456"/>
              <a:gd name="connsiteY13" fmla="*/ 224395 h 610354"/>
              <a:gd name="connsiteX14" fmla="*/ 299092 w 597456"/>
              <a:gd name="connsiteY14" fmla="*/ 251322 h 610354"/>
              <a:gd name="connsiteX15" fmla="*/ 596192 w 597456"/>
              <a:gd name="connsiteY15" fmla="*/ 79885 h 610354"/>
              <a:gd name="connsiteX16" fmla="*/ 592601 w 597456"/>
              <a:gd name="connsiteY16" fmla="*/ 71806 h 610354"/>
              <a:gd name="connsiteX17" fmla="*/ 475915 w 597456"/>
              <a:gd name="connsiteY17" fmla="*/ 71806 h 610354"/>
              <a:gd name="connsiteX18" fmla="*/ 517204 w 597456"/>
              <a:gd name="connsiteY18" fmla="*/ 30518 h 610354"/>
              <a:gd name="connsiteX19" fmla="*/ 517204 w 597456"/>
              <a:gd name="connsiteY19" fmla="*/ 5385 h 610354"/>
              <a:gd name="connsiteX20" fmla="*/ 492072 w 597456"/>
              <a:gd name="connsiteY20" fmla="*/ 5385 h 610354"/>
              <a:gd name="connsiteX21" fmla="*/ 426548 w 597456"/>
              <a:gd name="connsiteY21" fmla="*/ 71806 h 610354"/>
              <a:gd name="connsiteX22" fmla="*/ 4684 w 597456"/>
              <a:gd name="connsiteY22" fmla="*/ 71806 h 610354"/>
              <a:gd name="connsiteX23" fmla="*/ 1094 w 597456"/>
              <a:gd name="connsiteY23" fmla="*/ 79885 h 610354"/>
              <a:gd name="connsiteX24" fmla="*/ 281140 w 597456"/>
              <a:gd name="connsiteY24" fmla="*/ 359032 h 610354"/>
              <a:gd name="connsiteX25" fmla="*/ 281140 w 597456"/>
              <a:gd name="connsiteY25" fmla="*/ 538548 h 610354"/>
              <a:gd name="connsiteX26" fmla="*/ 255110 w 597456"/>
              <a:gd name="connsiteY26" fmla="*/ 559193 h 610354"/>
              <a:gd name="connsiteX27" fmla="*/ 219207 w 597456"/>
              <a:gd name="connsiteY27" fmla="*/ 565476 h 610354"/>
              <a:gd name="connsiteX28" fmla="*/ 218309 w 597456"/>
              <a:gd name="connsiteY28" fmla="*/ 565476 h 610354"/>
              <a:gd name="connsiteX29" fmla="*/ 191382 w 597456"/>
              <a:gd name="connsiteY29" fmla="*/ 583427 h 610354"/>
              <a:gd name="connsiteX30" fmla="*/ 299092 w 597456"/>
              <a:gd name="connsiteY30" fmla="*/ 610355 h 610354"/>
              <a:gd name="connsiteX31" fmla="*/ 406802 w 597456"/>
              <a:gd name="connsiteY31" fmla="*/ 583427 h 610354"/>
              <a:gd name="connsiteX32" fmla="*/ 379874 w 597456"/>
              <a:gd name="connsiteY32" fmla="*/ 565476 h 610354"/>
              <a:gd name="connsiteX33" fmla="*/ 343073 w 597456"/>
              <a:gd name="connsiteY33" fmla="*/ 559193 h 610354"/>
              <a:gd name="connsiteX34" fmla="*/ 317043 w 597456"/>
              <a:gd name="connsiteY34" fmla="*/ 538548 h 610354"/>
              <a:gd name="connsiteX35" fmla="*/ 317043 w 597456"/>
              <a:gd name="connsiteY35" fmla="*/ 359032 h 610354"/>
              <a:gd name="connsiteX36" fmla="*/ 596192 w 597456"/>
              <a:gd name="connsiteY36" fmla="*/ 79885 h 610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97456" h="610354">
                <a:moveTo>
                  <a:pt x="390645" y="107710"/>
                </a:moveTo>
                <a:lnTo>
                  <a:pt x="336790" y="161564"/>
                </a:lnTo>
                <a:lnTo>
                  <a:pt x="134834" y="161564"/>
                </a:lnTo>
                <a:lnTo>
                  <a:pt x="80979" y="107710"/>
                </a:lnTo>
                <a:lnTo>
                  <a:pt x="390645" y="107710"/>
                </a:lnTo>
                <a:close/>
                <a:moveTo>
                  <a:pt x="440910" y="107710"/>
                </a:moveTo>
                <a:lnTo>
                  <a:pt x="517204" y="107710"/>
                </a:lnTo>
                <a:lnTo>
                  <a:pt x="463349" y="161564"/>
                </a:lnTo>
                <a:lnTo>
                  <a:pt x="387055" y="161564"/>
                </a:lnTo>
                <a:lnTo>
                  <a:pt x="440910" y="107710"/>
                </a:lnTo>
                <a:close/>
                <a:moveTo>
                  <a:pt x="299092" y="251322"/>
                </a:moveTo>
                <a:cubicBezTo>
                  <a:pt x="283833" y="251322"/>
                  <a:pt x="272164" y="239654"/>
                  <a:pt x="272164" y="224395"/>
                </a:cubicBezTo>
                <a:cubicBezTo>
                  <a:pt x="272164" y="209136"/>
                  <a:pt x="283833" y="197468"/>
                  <a:pt x="299092" y="197468"/>
                </a:cubicBezTo>
                <a:cubicBezTo>
                  <a:pt x="314351" y="197468"/>
                  <a:pt x="326019" y="209136"/>
                  <a:pt x="326019" y="224395"/>
                </a:cubicBezTo>
                <a:cubicBezTo>
                  <a:pt x="326019" y="239654"/>
                  <a:pt x="314351" y="251322"/>
                  <a:pt x="299092" y="251322"/>
                </a:cubicBezTo>
                <a:close/>
                <a:moveTo>
                  <a:pt x="596192" y="79885"/>
                </a:moveTo>
                <a:cubicBezTo>
                  <a:pt x="598884" y="77192"/>
                  <a:pt x="597089" y="71806"/>
                  <a:pt x="592601" y="71806"/>
                </a:cubicBezTo>
                <a:lnTo>
                  <a:pt x="475915" y="71806"/>
                </a:lnTo>
                <a:lnTo>
                  <a:pt x="517204" y="30518"/>
                </a:lnTo>
                <a:cubicBezTo>
                  <a:pt x="524385" y="23337"/>
                  <a:pt x="524385" y="12566"/>
                  <a:pt x="517204" y="5385"/>
                </a:cubicBezTo>
                <a:cubicBezTo>
                  <a:pt x="510024" y="-1795"/>
                  <a:pt x="499253" y="-1795"/>
                  <a:pt x="492072" y="5385"/>
                </a:cubicBezTo>
                <a:lnTo>
                  <a:pt x="426548" y="71806"/>
                </a:lnTo>
                <a:lnTo>
                  <a:pt x="4684" y="71806"/>
                </a:lnTo>
                <a:cubicBezTo>
                  <a:pt x="1094" y="71806"/>
                  <a:pt x="-1599" y="76294"/>
                  <a:pt x="1094" y="79885"/>
                </a:cubicBezTo>
                <a:lnTo>
                  <a:pt x="281140" y="359032"/>
                </a:lnTo>
                <a:lnTo>
                  <a:pt x="281140" y="538548"/>
                </a:lnTo>
                <a:cubicBezTo>
                  <a:pt x="281140" y="547524"/>
                  <a:pt x="269471" y="554705"/>
                  <a:pt x="255110" y="559193"/>
                </a:cubicBezTo>
                <a:cubicBezTo>
                  <a:pt x="241646" y="560988"/>
                  <a:pt x="229080" y="562783"/>
                  <a:pt x="219207" y="565476"/>
                </a:cubicBezTo>
                <a:lnTo>
                  <a:pt x="218309" y="565476"/>
                </a:lnTo>
                <a:cubicBezTo>
                  <a:pt x="201255" y="569963"/>
                  <a:pt x="191382" y="576247"/>
                  <a:pt x="191382" y="583427"/>
                </a:cubicBezTo>
                <a:cubicBezTo>
                  <a:pt x="191382" y="598686"/>
                  <a:pt x="239851" y="610355"/>
                  <a:pt x="299092" y="610355"/>
                </a:cubicBezTo>
                <a:cubicBezTo>
                  <a:pt x="358332" y="610355"/>
                  <a:pt x="406802" y="598686"/>
                  <a:pt x="406802" y="583427"/>
                </a:cubicBezTo>
                <a:cubicBezTo>
                  <a:pt x="406802" y="576247"/>
                  <a:pt x="396031" y="569963"/>
                  <a:pt x="379874" y="565476"/>
                </a:cubicBezTo>
                <a:cubicBezTo>
                  <a:pt x="369103" y="562783"/>
                  <a:pt x="357435" y="560090"/>
                  <a:pt x="343073" y="559193"/>
                </a:cubicBezTo>
                <a:cubicBezTo>
                  <a:pt x="328712" y="554705"/>
                  <a:pt x="317043" y="547524"/>
                  <a:pt x="317043" y="538548"/>
                </a:cubicBezTo>
                <a:lnTo>
                  <a:pt x="317043" y="359032"/>
                </a:lnTo>
                <a:lnTo>
                  <a:pt x="596192" y="79885"/>
                </a:lnTo>
                <a:close/>
              </a:path>
            </a:pathLst>
          </a:custGeom>
          <a:solidFill>
            <a:srgbClr val="000000"/>
          </a:solidFill>
          <a:ln w="893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39E8E061-DE87-9E41-E31C-CDF8606AA7DB}"/>
              </a:ext>
            </a:extLst>
          </p:cNvPr>
          <p:cNvGrpSpPr/>
          <p:nvPr/>
        </p:nvGrpSpPr>
        <p:grpSpPr>
          <a:xfrm>
            <a:off x="1844148" y="23423708"/>
            <a:ext cx="847491" cy="786820"/>
            <a:chOff x="2138288" y="18804270"/>
            <a:chExt cx="682163" cy="682160"/>
          </a:xfrm>
        </p:grpSpPr>
        <p:sp>
          <p:nvSpPr>
            <p:cNvPr id="3083" name="Freeform: Shape 3082">
              <a:extLst>
                <a:ext uri="{FF2B5EF4-FFF2-40B4-BE49-F238E27FC236}">
                  <a16:creationId xmlns:a16="http://schemas.microsoft.com/office/drawing/2014/main" id="{3ABABB97-881C-14CD-F76C-A46942592926}"/>
                </a:ext>
              </a:extLst>
            </p:cNvPr>
            <p:cNvSpPr/>
            <p:nvPr/>
          </p:nvSpPr>
          <p:spPr>
            <a:xfrm flipH="1">
              <a:off x="2298058" y="19235108"/>
              <a:ext cx="362623" cy="116685"/>
            </a:xfrm>
            <a:custGeom>
              <a:avLst/>
              <a:gdLst>
                <a:gd name="connsiteX0" fmla="*/ 3590 w 362623"/>
                <a:gd name="connsiteY0" fmla="*/ 87963 h 116685"/>
                <a:gd name="connsiteX1" fmla="*/ 0 w 362623"/>
                <a:gd name="connsiteY1" fmla="*/ 98734 h 116685"/>
                <a:gd name="connsiteX2" fmla="*/ 17952 w 362623"/>
                <a:gd name="connsiteY2" fmla="*/ 116685 h 116685"/>
                <a:gd name="connsiteX3" fmla="*/ 32313 w 362623"/>
                <a:gd name="connsiteY3" fmla="*/ 109505 h 116685"/>
                <a:gd name="connsiteX4" fmla="*/ 181312 w 362623"/>
                <a:gd name="connsiteY4" fmla="*/ 36801 h 116685"/>
                <a:gd name="connsiteX5" fmla="*/ 330311 w 362623"/>
                <a:gd name="connsiteY5" fmla="*/ 109505 h 116685"/>
                <a:gd name="connsiteX6" fmla="*/ 344672 w 362623"/>
                <a:gd name="connsiteY6" fmla="*/ 116685 h 116685"/>
                <a:gd name="connsiteX7" fmla="*/ 362624 w 362623"/>
                <a:gd name="connsiteY7" fmla="*/ 98734 h 116685"/>
                <a:gd name="connsiteX8" fmla="*/ 359033 w 362623"/>
                <a:gd name="connsiteY8" fmla="*/ 87963 h 116685"/>
                <a:gd name="connsiteX9" fmla="*/ 181312 w 362623"/>
                <a:gd name="connsiteY9" fmla="*/ 0 h 116685"/>
                <a:gd name="connsiteX10" fmla="*/ 3590 w 362623"/>
                <a:gd name="connsiteY10" fmla="*/ 87963 h 11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623" h="116685">
                  <a:moveTo>
                    <a:pt x="3590" y="87963"/>
                  </a:moveTo>
                  <a:cubicBezTo>
                    <a:pt x="1795" y="90656"/>
                    <a:pt x="0" y="94246"/>
                    <a:pt x="0" y="98734"/>
                  </a:cubicBezTo>
                  <a:cubicBezTo>
                    <a:pt x="0" y="108607"/>
                    <a:pt x="8078" y="116685"/>
                    <a:pt x="17952" y="116685"/>
                  </a:cubicBezTo>
                  <a:cubicBezTo>
                    <a:pt x="24235" y="116685"/>
                    <a:pt x="29620" y="113993"/>
                    <a:pt x="32313" y="109505"/>
                  </a:cubicBezTo>
                  <a:cubicBezTo>
                    <a:pt x="66421" y="64626"/>
                    <a:pt x="120276" y="36801"/>
                    <a:pt x="181312" y="36801"/>
                  </a:cubicBezTo>
                  <a:cubicBezTo>
                    <a:pt x="242348" y="36801"/>
                    <a:pt x="295305" y="64626"/>
                    <a:pt x="330311" y="109505"/>
                  </a:cubicBezTo>
                  <a:cubicBezTo>
                    <a:pt x="333901" y="113993"/>
                    <a:pt x="339287" y="116685"/>
                    <a:pt x="344672" y="116685"/>
                  </a:cubicBezTo>
                  <a:cubicBezTo>
                    <a:pt x="354545" y="116685"/>
                    <a:pt x="362624" y="108607"/>
                    <a:pt x="362624" y="98734"/>
                  </a:cubicBezTo>
                  <a:cubicBezTo>
                    <a:pt x="362624" y="95143"/>
                    <a:pt x="361726" y="91553"/>
                    <a:pt x="359033" y="87963"/>
                  </a:cubicBezTo>
                  <a:cubicBezTo>
                    <a:pt x="317745" y="35006"/>
                    <a:pt x="254016" y="0"/>
                    <a:pt x="181312" y="0"/>
                  </a:cubicBezTo>
                  <a:cubicBezTo>
                    <a:pt x="108608" y="0"/>
                    <a:pt x="44879" y="35006"/>
                    <a:pt x="3590" y="87963"/>
                  </a:cubicBezTo>
                  <a:close/>
                </a:path>
              </a:pathLst>
            </a:custGeom>
            <a:solidFill>
              <a:srgbClr val="000000"/>
            </a:soli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5" name="Freeform: Shape 3084">
              <a:extLst>
                <a:ext uri="{FF2B5EF4-FFF2-40B4-BE49-F238E27FC236}">
                  <a16:creationId xmlns:a16="http://schemas.microsoft.com/office/drawing/2014/main" id="{B2363794-ADB2-4A95-8248-719F41DE4B18}"/>
                </a:ext>
              </a:extLst>
            </p:cNvPr>
            <p:cNvSpPr/>
            <p:nvPr/>
          </p:nvSpPr>
          <p:spPr>
            <a:xfrm flipH="1">
              <a:off x="2281901" y="19037640"/>
              <a:ext cx="107710" cy="107709"/>
            </a:xfrm>
            <a:custGeom>
              <a:avLst/>
              <a:gdLst>
                <a:gd name="connsiteX0" fmla="*/ 107710 w 107710"/>
                <a:gd name="connsiteY0" fmla="*/ 53855 h 107709"/>
                <a:gd name="connsiteX1" fmla="*/ 53855 w 107710"/>
                <a:gd name="connsiteY1" fmla="*/ 107710 h 107709"/>
                <a:gd name="connsiteX2" fmla="*/ 0 w 107710"/>
                <a:gd name="connsiteY2" fmla="*/ 53855 h 107709"/>
                <a:gd name="connsiteX3" fmla="*/ 53855 w 107710"/>
                <a:gd name="connsiteY3" fmla="*/ 0 h 107709"/>
                <a:gd name="connsiteX4" fmla="*/ 107710 w 107710"/>
                <a:gd name="connsiteY4" fmla="*/ 53855 h 107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10" h="107709">
                  <a:moveTo>
                    <a:pt x="107710" y="53855"/>
                  </a:moveTo>
                  <a:cubicBezTo>
                    <a:pt x="107710" y="83598"/>
                    <a:pt x="83598" y="107710"/>
                    <a:pt x="53855" y="107710"/>
                  </a:cubicBezTo>
                  <a:cubicBezTo>
                    <a:pt x="24112" y="107710"/>
                    <a:pt x="0" y="83598"/>
                    <a:pt x="0" y="53855"/>
                  </a:cubicBezTo>
                  <a:cubicBezTo>
                    <a:pt x="0" y="24112"/>
                    <a:pt x="24112" y="0"/>
                    <a:pt x="53855" y="0"/>
                  </a:cubicBezTo>
                  <a:cubicBezTo>
                    <a:pt x="83598" y="0"/>
                    <a:pt x="107710" y="24112"/>
                    <a:pt x="107710" y="53855"/>
                  </a:cubicBezTo>
                  <a:close/>
                </a:path>
              </a:pathLst>
            </a:custGeom>
            <a:solidFill>
              <a:srgbClr val="000000"/>
            </a:soli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4" name="Freeform: Shape 3093">
              <a:extLst>
                <a:ext uri="{FF2B5EF4-FFF2-40B4-BE49-F238E27FC236}">
                  <a16:creationId xmlns:a16="http://schemas.microsoft.com/office/drawing/2014/main" id="{D5D9BAE0-C1EA-2951-9340-A4B8EFA84B95}"/>
                </a:ext>
              </a:extLst>
            </p:cNvPr>
            <p:cNvSpPr/>
            <p:nvPr/>
          </p:nvSpPr>
          <p:spPr>
            <a:xfrm flipH="1">
              <a:off x="2569128" y="19037640"/>
              <a:ext cx="107710" cy="107709"/>
            </a:xfrm>
            <a:custGeom>
              <a:avLst/>
              <a:gdLst>
                <a:gd name="connsiteX0" fmla="*/ 107710 w 107710"/>
                <a:gd name="connsiteY0" fmla="*/ 53855 h 107709"/>
                <a:gd name="connsiteX1" fmla="*/ 53855 w 107710"/>
                <a:gd name="connsiteY1" fmla="*/ 107710 h 107709"/>
                <a:gd name="connsiteX2" fmla="*/ 0 w 107710"/>
                <a:gd name="connsiteY2" fmla="*/ 53855 h 107709"/>
                <a:gd name="connsiteX3" fmla="*/ 53855 w 107710"/>
                <a:gd name="connsiteY3" fmla="*/ 0 h 107709"/>
                <a:gd name="connsiteX4" fmla="*/ 107710 w 107710"/>
                <a:gd name="connsiteY4" fmla="*/ 53855 h 107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10" h="107709">
                  <a:moveTo>
                    <a:pt x="107710" y="53855"/>
                  </a:moveTo>
                  <a:cubicBezTo>
                    <a:pt x="107710" y="83598"/>
                    <a:pt x="83598" y="107710"/>
                    <a:pt x="53855" y="107710"/>
                  </a:cubicBezTo>
                  <a:cubicBezTo>
                    <a:pt x="24112" y="107710"/>
                    <a:pt x="0" y="83598"/>
                    <a:pt x="0" y="53855"/>
                  </a:cubicBezTo>
                  <a:cubicBezTo>
                    <a:pt x="0" y="24112"/>
                    <a:pt x="24112" y="0"/>
                    <a:pt x="53855" y="0"/>
                  </a:cubicBezTo>
                  <a:cubicBezTo>
                    <a:pt x="83598" y="0"/>
                    <a:pt x="107710" y="24112"/>
                    <a:pt x="107710" y="53855"/>
                  </a:cubicBezTo>
                  <a:close/>
                </a:path>
              </a:pathLst>
            </a:custGeom>
            <a:solidFill>
              <a:srgbClr val="000000"/>
            </a:soli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0" name="Freeform: Shape 3099">
              <a:extLst>
                <a:ext uri="{FF2B5EF4-FFF2-40B4-BE49-F238E27FC236}">
                  <a16:creationId xmlns:a16="http://schemas.microsoft.com/office/drawing/2014/main" id="{5DD9F0C2-0FB8-B620-67FF-4FB729F56E7F}"/>
                </a:ext>
              </a:extLst>
            </p:cNvPr>
            <p:cNvSpPr/>
            <p:nvPr/>
          </p:nvSpPr>
          <p:spPr>
            <a:xfrm flipH="1">
              <a:off x="2138288" y="18804270"/>
              <a:ext cx="682163" cy="682160"/>
            </a:xfrm>
            <a:custGeom>
              <a:avLst/>
              <a:gdLst>
                <a:gd name="connsiteX0" fmla="*/ 341082 w 682163"/>
                <a:gd name="connsiteY0" fmla="*/ 35903 h 682160"/>
                <a:gd name="connsiteX1" fmla="*/ 646260 w 682163"/>
                <a:gd name="connsiteY1" fmla="*/ 341081 h 682160"/>
                <a:gd name="connsiteX2" fmla="*/ 341082 w 682163"/>
                <a:gd name="connsiteY2" fmla="*/ 646258 h 682160"/>
                <a:gd name="connsiteX3" fmla="*/ 35903 w 682163"/>
                <a:gd name="connsiteY3" fmla="*/ 341081 h 682160"/>
                <a:gd name="connsiteX4" fmla="*/ 341082 w 682163"/>
                <a:gd name="connsiteY4" fmla="*/ 35903 h 682160"/>
                <a:gd name="connsiteX5" fmla="*/ 341082 w 682163"/>
                <a:gd name="connsiteY5" fmla="*/ 0 h 682160"/>
                <a:gd name="connsiteX6" fmla="*/ 0 w 682163"/>
                <a:gd name="connsiteY6" fmla="*/ 341081 h 682160"/>
                <a:gd name="connsiteX7" fmla="*/ 341082 w 682163"/>
                <a:gd name="connsiteY7" fmla="*/ 682161 h 682160"/>
                <a:gd name="connsiteX8" fmla="*/ 682163 w 682163"/>
                <a:gd name="connsiteY8" fmla="*/ 341081 h 682160"/>
                <a:gd name="connsiteX9" fmla="*/ 341082 w 682163"/>
                <a:gd name="connsiteY9" fmla="*/ 0 h 682160"/>
                <a:gd name="connsiteX10" fmla="*/ 341082 w 682163"/>
                <a:gd name="connsiteY10" fmla="*/ 0 h 682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82163" h="682160">
                  <a:moveTo>
                    <a:pt x="341082" y="35903"/>
                  </a:moveTo>
                  <a:cubicBezTo>
                    <a:pt x="508930" y="35903"/>
                    <a:pt x="646260" y="173233"/>
                    <a:pt x="646260" y="341081"/>
                  </a:cubicBezTo>
                  <a:cubicBezTo>
                    <a:pt x="646260" y="508928"/>
                    <a:pt x="508930" y="646258"/>
                    <a:pt x="341082" y="646258"/>
                  </a:cubicBezTo>
                  <a:cubicBezTo>
                    <a:pt x="173234" y="646258"/>
                    <a:pt x="35903" y="508928"/>
                    <a:pt x="35903" y="341081"/>
                  </a:cubicBezTo>
                  <a:cubicBezTo>
                    <a:pt x="35903" y="173233"/>
                    <a:pt x="173234" y="35903"/>
                    <a:pt x="341082" y="35903"/>
                  </a:cubicBezTo>
                  <a:moveTo>
                    <a:pt x="341082" y="0"/>
                  </a:moveTo>
                  <a:cubicBezTo>
                    <a:pt x="152589" y="0"/>
                    <a:pt x="0" y="152589"/>
                    <a:pt x="0" y="341081"/>
                  </a:cubicBezTo>
                  <a:cubicBezTo>
                    <a:pt x="0" y="529572"/>
                    <a:pt x="152589" y="682161"/>
                    <a:pt x="341082" y="682161"/>
                  </a:cubicBezTo>
                  <a:cubicBezTo>
                    <a:pt x="529574" y="682161"/>
                    <a:pt x="682163" y="529572"/>
                    <a:pt x="682163" y="341081"/>
                  </a:cubicBezTo>
                  <a:cubicBezTo>
                    <a:pt x="682163" y="152589"/>
                    <a:pt x="529574" y="0"/>
                    <a:pt x="341082" y="0"/>
                  </a:cubicBezTo>
                  <a:lnTo>
                    <a:pt x="341082" y="0"/>
                  </a:lnTo>
                  <a:close/>
                </a:path>
              </a:pathLst>
            </a:custGeom>
            <a:solidFill>
              <a:srgbClr val="000000"/>
            </a:solidFill>
            <a:ln w="89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02" name="Text Placeholder 37">
            <a:extLst>
              <a:ext uri="{FF2B5EF4-FFF2-40B4-BE49-F238E27FC236}">
                <a16:creationId xmlns:a16="http://schemas.microsoft.com/office/drawing/2014/main" id="{B4AD16E7-38E3-BDC1-7CD0-A9A722DDF4E5}"/>
              </a:ext>
            </a:extLst>
          </p:cNvPr>
          <p:cNvSpPr txBox="1">
            <a:spLocks/>
          </p:cNvSpPr>
          <p:nvPr/>
        </p:nvSpPr>
        <p:spPr bwMode="auto">
          <a:xfrm>
            <a:off x="2691639" y="23322281"/>
            <a:ext cx="7537642" cy="8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 baseline="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Increased distress/feelings of powerlessness</a:t>
            </a:r>
          </a:p>
        </p:txBody>
      </p:sp>
      <p:sp>
        <p:nvSpPr>
          <p:cNvPr id="3104" name="Text Placeholder 37">
            <a:extLst>
              <a:ext uri="{FF2B5EF4-FFF2-40B4-BE49-F238E27FC236}">
                <a16:creationId xmlns:a16="http://schemas.microsoft.com/office/drawing/2014/main" id="{A98E5260-1150-DB73-9EF9-11F7D02185B5}"/>
              </a:ext>
            </a:extLst>
          </p:cNvPr>
          <p:cNvSpPr txBox="1">
            <a:spLocks/>
          </p:cNvSpPr>
          <p:nvPr/>
        </p:nvSpPr>
        <p:spPr bwMode="auto">
          <a:xfrm>
            <a:off x="2755558" y="24203644"/>
            <a:ext cx="7537642" cy="8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 baseline="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Increased alcohol-reliance</a:t>
            </a:r>
          </a:p>
        </p:txBody>
      </p:sp>
      <p:sp>
        <p:nvSpPr>
          <p:cNvPr id="3105" name="Rectangle 3104">
            <a:extLst>
              <a:ext uri="{FF2B5EF4-FFF2-40B4-BE49-F238E27FC236}">
                <a16:creationId xmlns:a16="http://schemas.microsoft.com/office/drawing/2014/main" id="{2A15C068-C3E6-B409-27BC-F6F4AD3BAA3B}"/>
              </a:ext>
            </a:extLst>
          </p:cNvPr>
          <p:cNvSpPr/>
          <p:nvPr/>
        </p:nvSpPr>
        <p:spPr>
          <a:xfrm>
            <a:off x="1219200" y="25369625"/>
            <a:ext cx="8952061" cy="1117229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rebuchet MS" panose="020B0603020202020204" pitchFamily="34" charset="0"/>
              </a:rPr>
              <a:t>~2.4% prevalence among American adults </a:t>
            </a:r>
            <a:r>
              <a:rPr lang="en-US" sz="2800" b="1" dirty="0">
                <a:latin typeface="Trebuchet MS" panose="020B0603020202020204" pitchFamily="34" charset="0"/>
              </a:rPr>
              <a:t>(</a:t>
            </a:r>
            <a:r>
              <a:rPr lang="en-US" sz="2800" b="1" dirty="0" err="1">
                <a:latin typeface="Trebuchet MS" panose="020B0603020202020204" pitchFamily="34" charset="0"/>
              </a:rPr>
              <a:t>Hasin</a:t>
            </a:r>
            <a:r>
              <a:rPr lang="en-US" sz="2800" b="1" dirty="0">
                <a:latin typeface="Trebuchet MS" panose="020B0603020202020204" pitchFamily="34" charset="0"/>
              </a:rPr>
              <a:t> &amp; Grant, 2015)</a:t>
            </a:r>
          </a:p>
        </p:txBody>
      </p:sp>
      <p:sp>
        <p:nvSpPr>
          <p:cNvPr id="3106" name="Text Placeholder 6">
            <a:extLst>
              <a:ext uri="{FF2B5EF4-FFF2-40B4-BE49-F238E27FC236}">
                <a16:creationId xmlns:a16="http://schemas.microsoft.com/office/drawing/2014/main" id="{7E820A15-891C-7FDD-9FE7-7A759268E329}"/>
              </a:ext>
            </a:extLst>
          </p:cNvPr>
          <p:cNvSpPr txBox="1">
            <a:spLocks/>
          </p:cNvSpPr>
          <p:nvPr/>
        </p:nvSpPr>
        <p:spPr>
          <a:xfrm>
            <a:off x="531813" y="26776990"/>
            <a:ext cx="10210800" cy="7540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marL="1644650" indent="-1644650" algn="ctr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700" b="1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565525" indent="-137001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4813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325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4250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r>
              <a:rPr lang="en-US" dirty="0"/>
              <a:t>METHODS</a:t>
            </a:r>
          </a:p>
        </p:txBody>
      </p:sp>
      <p:pic>
        <p:nvPicPr>
          <p:cNvPr id="3122" name="Picture 50" descr="Collection Spotlight: PsycINFO | Smith College Libraries">
            <a:extLst>
              <a:ext uri="{FF2B5EF4-FFF2-40B4-BE49-F238E27FC236}">
                <a16:creationId xmlns:a16="http://schemas.microsoft.com/office/drawing/2014/main" id="{FD7C229C-3420-0A31-2D4F-C51A2C979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856" y="28123583"/>
            <a:ext cx="3434147" cy="171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4" name="Picture 52" descr="PubMed - Saline County Library">
            <a:extLst>
              <a:ext uri="{FF2B5EF4-FFF2-40B4-BE49-F238E27FC236}">
                <a16:creationId xmlns:a16="http://schemas.microsoft.com/office/drawing/2014/main" id="{86D7CAC5-EC07-85F3-859F-610FFBF01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714" y="28385015"/>
            <a:ext cx="2794205" cy="113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23" name="Text Placeholder 3122">
            <a:extLst>
              <a:ext uri="{FF2B5EF4-FFF2-40B4-BE49-F238E27FC236}">
                <a16:creationId xmlns:a16="http://schemas.microsoft.com/office/drawing/2014/main" id="{DC38EC56-98EF-B908-44D8-2F0AA1BA2AA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125" name="Text Placeholder 18">
            <a:extLst>
              <a:ext uri="{FF2B5EF4-FFF2-40B4-BE49-F238E27FC236}">
                <a16:creationId xmlns:a16="http://schemas.microsoft.com/office/drawing/2014/main" id="{886A516F-6D2A-93FC-962B-A6B3DABE5007}"/>
              </a:ext>
            </a:extLst>
          </p:cNvPr>
          <p:cNvSpPr txBox="1">
            <a:spLocks/>
          </p:cNvSpPr>
          <p:nvPr/>
        </p:nvSpPr>
        <p:spPr bwMode="auto">
          <a:xfrm>
            <a:off x="600869" y="27455447"/>
            <a:ext cx="10039350" cy="8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 baseline="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Databases searched:</a:t>
            </a:r>
          </a:p>
        </p:txBody>
      </p:sp>
      <p:sp>
        <p:nvSpPr>
          <p:cNvPr id="3126" name="Text Placeholder 3">
            <a:extLst>
              <a:ext uri="{FF2B5EF4-FFF2-40B4-BE49-F238E27FC236}">
                <a16:creationId xmlns:a16="http://schemas.microsoft.com/office/drawing/2014/main" id="{8B93EB39-72EB-0217-A8AD-2CB2247189C1}"/>
              </a:ext>
            </a:extLst>
          </p:cNvPr>
          <p:cNvSpPr txBox="1">
            <a:spLocks/>
          </p:cNvSpPr>
          <p:nvPr/>
        </p:nvSpPr>
        <p:spPr>
          <a:xfrm>
            <a:off x="515620" y="10328079"/>
            <a:ext cx="10196513" cy="75406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marL="1644650" indent="-1644650" algn="ctr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700" b="1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565525" indent="-137001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4813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325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4250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5838" indent="-1645838" defTabSz="4388900" eaLnBrk="1" fontAlgn="auto" hangingPunct="1">
              <a:spcAft>
                <a:spcPts val="0"/>
              </a:spcAft>
              <a:defRPr/>
            </a:pPr>
            <a:r>
              <a:rPr lang="en-US" dirty="0">
                <a:cs typeface="Cooper Black"/>
              </a:rPr>
              <a:t>DIAGNOSTIC CRITERIA</a:t>
            </a:r>
          </a:p>
        </p:txBody>
      </p:sp>
      <p:sp>
        <p:nvSpPr>
          <p:cNvPr id="3128" name="Text Placeholder 18">
            <a:extLst>
              <a:ext uri="{FF2B5EF4-FFF2-40B4-BE49-F238E27FC236}">
                <a16:creationId xmlns:a16="http://schemas.microsoft.com/office/drawing/2014/main" id="{54A11D24-7620-C138-5DE8-2800B323FDBD}"/>
              </a:ext>
            </a:extLst>
          </p:cNvPr>
          <p:cNvSpPr txBox="1">
            <a:spLocks/>
          </p:cNvSpPr>
          <p:nvPr/>
        </p:nvSpPr>
        <p:spPr bwMode="auto">
          <a:xfrm>
            <a:off x="546100" y="30389113"/>
            <a:ext cx="10039350" cy="8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 baseline="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/>
              <a:t>Additional literature identified in article references</a:t>
            </a:r>
          </a:p>
        </p:txBody>
      </p:sp>
      <p:sp>
        <p:nvSpPr>
          <p:cNvPr id="3129" name="Text Placeholder 10">
            <a:extLst>
              <a:ext uri="{FF2B5EF4-FFF2-40B4-BE49-F238E27FC236}">
                <a16:creationId xmlns:a16="http://schemas.microsoft.com/office/drawing/2014/main" id="{C6B1D4B5-EF4A-F6C6-F2CE-951A7B265994}"/>
              </a:ext>
            </a:extLst>
          </p:cNvPr>
          <p:cNvSpPr txBox="1">
            <a:spLocks/>
          </p:cNvSpPr>
          <p:nvPr/>
        </p:nvSpPr>
        <p:spPr>
          <a:xfrm>
            <a:off x="11246485" y="10870044"/>
            <a:ext cx="21421725" cy="7540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marL="1644650" indent="-1644650" algn="ctr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700" b="1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565525" indent="-137001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4813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325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4250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5838" indent="-1645838" algn="l" defTabSz="438890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Affect Awareness in Self and Others</a:t>
            </a:r>
          </a:p>
        </p:txBody>
      </p:sp>
      <p:sp>
        <p:nvSpPr>
          <p:cNvPr id="3130" name="Text Placeholder 10">
            <a:extLst>
              <a:ext uri="{FF2B5EF4-FFF2-40B4-BE49-F238E27FC236}">
                <a16:creationId xmlns:a16="http://schemas.microsoft.com/office/drawing/2014/main" id="{31CD2C7D-DA15-4323-3D95-41C6AC19E391}"/>
              </a:ext>
            </a:extLst>
          </p:cNvPr>
          <p:cNvSpPr txBox="1">
            <a:spLocks/>
          </p:cNvSpPr>
          <p:nvPr/>
        </p:nvSpPr>
        <p:spPr>
          <a:xfrm>
            <a:off x="11279370" y="15579635"/>
            <a:ext cx="21421725" cy="75406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marL="1644650" indent="-1644650" algn="ctr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700" b="1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565525" indent="-137001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4813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325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4250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5838" indent="-1645838" algn="l" defTabSz="438890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Maladaptive Responses</a:t>
            </a:r>
          </a:p>
        </p:txBody>
      </p:sp>
      <p:sp>
        <p:nvSpPr>
          <p:cNvPr id="3131" name="Text Placeholder 10">
            <a:extLst>
              <a:ext uri="{FF2B5EF4-FFF2-40B4-BE49-F238E27FC236}">
                <a16:creationId xmlns:a16="http://schemas.microsoft.com/office/drawing/2014/main" id="{BC250271-D5DF-3AE0-5CA6-396B51AD305D}"/>
              </a:ext>
            </a:extLst>
          </p:cNvPr>
          <p:cNvSpPr txBox="1">
            <a:spLocks/>
          </p:cNvSpPr>
          <p:nvPr/>
        </p:nvSpPr>
        <p:spPr>
          <a:xfrm>
            <a:off x="11261725" y="21002966"/>
            <a:ext cx="21421725" cy="754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91436" tIns="91436" rIns="91436" bIns="91436" anchor="ctr" anchorCtr="0">
            <a:spAutoFit/>
          </a:bodyPr>
          <a:lstStyle>
            <a:lvl1pPr marL="1644650" indent="-1644650" algn="ctr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3700" b="1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565525" indent="-137001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4813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325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4250" indent="-1096963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45838" indent="-1645838" algn="l" defTabSz="4388900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Implications for Treatment</a:t>
            </a:r>
          </a:p>
        </p:txBody>
      </p:sp>
      <p:graphicFrame>
        <p:nvGraphicFramePr>
          <p:cNvPr id="3133" name="Table 3132">
            <a:extLst>
              <a:ext uri="{FF2B5EF4-FFF2-40B4-BE49-F238E27FC236}">
                <a16:creationId xmlns:a16="http://schemas.microsoft.com/office/drawing/2014/main" id="{9BA9A84A-CBF9-27D6-D808-83F26BFC8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62479"/>
              </p:ext>
            </p:extLst>
          </p:nvPr>
        </p:nvGraphicFramePr>
        <p:xfrm>
          <a:off x="21825599" y="7283548"/>
          <a:ext cx="9997124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8562">
                  <a:extLst>
                    <a:ext uri="{9D8B030D-6E8A-4147-A177-3AD203B41FA5}">
                      <a16:colId xmlns:a16="http://schemas.microsoft.com/office/drawing/2014/main" val="2005944860"/>
                    </a:ext>
                  </a:extLst>
                </a:gridCol>
                <a:gridCol w="4998562">
                  <a:extLst>
                    <a:ext uri="{9D8B030D-6E8A-4147-A177-3AD203B41FA5}">
                      <a16:colId xmlns:a16="http://schemas.microsoft.com/office/drawing/2014/main" val="323184066"/>
                    </a:ext>
                  </a:extLst>
                </a:gridCol>
              </a:tblGrid>
              <a:tr h="184164">
                <a:tc>
                  <a:txBody>
                    <a:bodyPr/>
                    <a:lstStyle/>
                    <a:p>
                      <a:r>
                        <a:rPr lang="en-US" altLang="en-US" sz="2800" dirty="0">
                          <a:latin typeface="Trebuchet MS" panose="020B0603020202020204" pitchFamily="34" charset="0"/>
                        </a:rPr>
                        <a:t>Prevalent affective states</a:t>
                      </a:r>
                      <a:endParaRPr lang="en-US" sz="28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800" dirty="0">
                          <a:latin typeface="Trebuchet MS" panose="020B0603020202020204" pitchFamily="34" charset="0"/>
                        </a:rPr>
                        <a:t>Suppressed affective states</a:t>
                      </a:r>
                      <a:endParaRPr lang="en-US" sz="28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0165"/>
                  </a:ext>
                </a:extLst>
              </a:tr>
              <a:tr h="1096620">
                <a:tc>
                  <a:txBody>
                    <a:bodyPr/>
                    <a:lstStyle/>
                    <a:p>
                      <a:pPr marL="457200" indent="-457200" eaLnBrk="1" hangingPunct="1">
                        <a:buSzPct val="150000"/>
                        <a:buFont typeface="Trebuchet MS" panose="020B0603020202020204" pitchFamily="34" charset="0"/>
                        <a:buChar char="+"/>
                      </a:pPr>
                      <a:r>
                        <a:rPr lang="en-US" altLang="en-US" sz="2800" dirty="0">
                          <a:latin typeface="Trebuchet MS" panose="020B0603020202020204" pitchFamily="34" charset="0"/>
                        </a:rPr>
                        <a:t>Fear</a:t>
                      </a:r>
                    </a:p>
                    <a:p>
                      <a:pPr marL="457200" indent="-457200" eaLnBrk="1" hangingPunct="1">
                        <a:buSzPct val="150000"/>
                        <a:buFont typeface="Trebuchet MS" panose="020B0603020202020204" pitchFamily="34" charset="0"/>
                        <a:buChar char="+"/>
                      </a:pPr>
                      <a:r>
                        <a:rPr lang="en-US" altLang="en-US" sz="2800" dirty="0">
                          <a:latin typeface="Trebuchet MS" panose="020B0603020202020204" pitchFamily="34" charset="0"/>
                        </a:rPr>
                        <a:t>Loneliness</a:t>
                      </a:r>
                    </a:p>
                    <a:p>
                      <a:pPr marL="457200" indent="-457200" eaLnBrk="1" hangingPunct="1">
                        <a:buSzPct val="150000"/>
                        <a:buFont typeface="Trebuchet MS" panose="020B0603020202020204" pitchFamily="34" charset="0"/>
                        <a:buChar char="+"/>
                      </a:pPr>
                      <a:r>
                        <a:rPr lang="en-US" altLang="en-US" sz="2800" dirty="0">
                          <a:latin typeface="Trebuchet MS" panose="020B0603020202020204" pitchFamily="34" charset="0"/>
                        </a:rPr>
                        <a:t>Shame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eaLnBrk="1" hangingPunct="1">
                        <a:buSzPct val="150000"/>
                        <a:buFont typeface="Trebuchet MS" panose="020B0603020202020204" pitchFamily="34" charset="0"/>
                        <a:buChar char="-"/>
                      </a:pPr>
                      <a:r>
                        <a:rPr lang="en-US" altLang="en-US" sz="2800" dirty="0">
                          <a:latin typeface="Trebuchet MS" panose="020B0603020202020204" pitchFamily="34" charset="0"/>
                        </a:rPr>
                        <a:t>Seeking/interest</a:t>
                      </a:r>
                    </a:p>
                    <a:p>
                      <a:pPr marL="457200" indent="-457200" eaLnBrk="1" hangingPunct="1">
                        <a:buSzPct val="150000"/>
                        <a:buFont typeface="Trebuchet MS" panose="020B0603020202020204" pitchFamily="34" charset="0"/>
                        <a:buChar char="-"/>
                      </a:pPr>
                      <a:r>
                        <a:rPr lang="en-US" altLang="en-US" sz="2800" dirty="0">
                          <a:latin typeface="Trebuchet MS" panose="020B0603020202020204" pitchFamily="34" charset="0"/>
                        </a:rPr>
                        <a:t>Play</a:t>
                      </a:r>
                    </a:p>
                    <a:p>
                      <a:endParaRPr lang="en-US" sz="2800" dirty="0">
                        <a:latin typeface="Trebuchet MS" panose="020B0603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18629"/>
                  </a:ext>
                </a:extLst>
              </a:tr>
            </a:tbl>
          </a:graphicData>
        </a:graphic>
      </p:graphicFrame>
      <p:sp>
        <p:nvSpPr>
          <p:cNvPr id="3135" name="Text Placeholder 3134">
            <a:extLst>
              <a:ext uri="{FF2B5EF4-FFF2-40B4-BE49-F238E27FC236}">
                <a16:creationId xmlns:a16="http://schemas.microsoft.com/office/drawing/2014/main" id="{CE222083-AC6C-BD5C-79A8-2DDD49D4A8FC}"/>
              </a:ext>
            </a:extLst>
          </p:cNvPr>
          <p:cNvSpPr>
            <a:spLocks noGrp="1"/>
          </p:cNvSpPr>
          <p:nvPr>
            <p:ph type="body" sz="quarter" idx="1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46" name="Text Placeholder 3145">
            <a:extLst>
              <a:ext uri="{FF2B5EF4-FFF2-40B4-BE49-F238E27FC236}">
                <a16:creationId xmlns:a16="http://schemas.microsoft.com/office/drawing/2014/main" id="{12187C63-348C-E92F-FE2E-1EA86A463DDD}"/>
              </a:ext>
            </a:extLst>
          </p:cNvPr>
          <p:cNvSpPr>
            <a:spLocks noGrp="1"/>
          </p:cNvSpPr>
          <p:nvPr>
            <p:ph type="body" sz="quarter" idx="169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150" name="Group 3149">
            <a:extLst>
              <a:ext uri="{FF2B5EF4-FFF2-40B4-BE49-F238E27FC236}">
                <a16:creationId xmlns:a16="http://schemas.microsoft.com/office/drawing/2014/main" id="{25BF64E7-380B-042D-219F-F4DF910C863B}"/>
              </a:ext>
            </a:extLst>
          </p:cNvPr>
          <p:cNvGrpSpPr/>
          <p:nvPr/>
        </p:nvGrpSpPr>
        <p:grpSpPr>
          <a:xfrm>
            <a:off x="12568888" y="12387422"/>
            <a:ext cx="2565853" cy="1883817"/>
            <a:chOff x="12462751" y="12484082"/>
            <a:chExt cx="2565853" cy="1883817"/>
          </a:xfrm>
        </p:grpSpPr>
        <p:sp>
          <p:nvSpPr>
            <p:cNvPr id="3145" name="Isosceles Triangle 3144">
              <a:extLst>
                <a:ext uri="{FF2B5EF4-FFF2-40B4-BE49-F238E27FC236}">
                  <a16:creationId xmlns:a16="http://schemas.microsoft.com/office/drawing/2014/main" id="{2FF55DC5-A22B-5FE8-D176-3D9FC6972319}"/>
                </a:ext>
              </a:extLst>
            </p:cNvPr>
            <p:cNvSpPr/>
            <p:nvPr/>
          </p:nvSpPr>
          <p:spPr>
            <a:xfrm>
              <a:off x="12700976" y="12484082"/>
              <a:ext cx="2150111" cy="1871593"/>
            </a:xfrm>
            <a:prstGeom prst="triangle">
              <a:avLst/>
            </a:prstGeom>
            <a:noFill/>
            <a:ln w="254000">
              <a:solidFill>
                <a:srgbClr val="F3C4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7" name="TextBox 3146">
              <a:extLst>
                <a:ext uri="{FF2B5EF4-FFF2-40B4-BE49-F238E27FC236}">
                  <a16:creationId xmlns:a16="http://schemas.microsoft.com/office/drawing/2014/main" id="{FC61AA96-17B1-8EEF-6436-B3467E580D62}"/>
                </a:ext>
              </a:extLst>
            </p:cNvPr>
            <p:cNvSpPr txBox="1"/>
            <p:nvPr/>
          </p:nvSpPr>
          <p:spPr>
            <a:xfrm>
              <a:off x="12462751" y="12798239"/>
              <a:ext cx="256585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dirty="0"/>
                <a:t>!</a:t>
              </a:r>
              <a:endParaRPr lang="en-US" b="1" dirty="0"/>
            </a:p>
          </p:txBody>
        </p:sp>
      </p:grpSp>
      <p:graphicFrame>
        <p:nvGraphicFramePr>
          <p:cNvPr id="3151" name="Table 3150">
            <a:extLst>
              <a:ext uri="{FF2B5EF4-FFF2-40B4-BE49-F238E27FC236}">
                <a16:creationId xmlns:a16="http://schemas.microsoft.com/office/drawing/2014/main" id="{C2CF4662-083D-23E6-2EFC-9141A21F6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232468"/>
              </p:ext>
            </p:extLst>
          </p:nvPr>
        </p:nvGraphicFramePr>
        <p:xfrm>
          <a:off x="11676323" y="16872333"/>
          <a:ext cx="2064941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8477">
                  <a:extLst>
                    <a:ext uri="{9D8B030D-6E8A-4147-A177-3AD203B41FA5}">
                      <a16:colId xmlns:a16="http://schemas.microsoft.com/office/drawing/2014/main" val="1005778232"/>
                    </a:ext>
                  </a:extLst>
                </a:gridCol>
                <a:gridCol w="7179733">
                  <a:extLst>
                    <a:ext uri="{9D8B030D-6E8A-4147-A177-3AD203B41FA5}">
                      <a16:colId xmlns:a16="http://schemas.microsoft.com/office/drawing/2014/main" val="3752630728"/>
                    </a:ext>
                  </a:extLst>
                </a:gridCol>
                <a:gridCol w="7061200">
                  <a:extLst>
                    <a:ext uri="{9D8B030D-6E8A-4147-A177-3AD203B41FA5}">
                      <a16:colId xmlns:a16="http://schemas.microsoft.com/office/drawing/2014/main" val="856150153"/>
                    </a:ext>
                  </a:extLst>
                </a:gridCol>
              </a:tblGrid>
              <a:tr h="745645">
                <a:tc>
                  <a:txBody>
                    <a:bodyPr/>
                    <a:lstStyle/>
                    <a:p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Emotion suppression and avoidance</a:t>
                      </a:r>
                    </a:p>
                    <a:p>
                      <a:r>
                        <a:rPr lang="en-US" sz="2500" b="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(</a:t>
                      </a:r>
                      <a:r>
                        <a:rPr lang="en-US" sz="2500" b="0" u="none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Snir</a:t>
                      </a:r>
                      <a:r>
                        <a:rPr lang="en-US" sz="2500" b="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et al., 2017)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Shame aversion</a:t>
                      </a:r>
                    </a:p>
                    <a:p>
                      <a:r>
                        <a:rPr lang="en-US" sz="2500" b="0" i="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(</a:t>
                      </a:r>
                      <a:r>
                        <a:rPr lang="en-US" sz="2500" b="0" i="0" u="none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Schoenleber</a:t>
                      </a:r>
                      <a:r>
                        <a:rPr lang="en-US" sz="2500" b="0" i="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&amp; </a:t>
                      </a:r>
                      <a:r>
                        <a:rPr lang="en-US" sz="2500" b="0" i="0" u="none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Berenbaum</a:t>
                      </a:r>
                      <a:r>
                        <a:rPr lang="en-US" sz="2500" b="0" i="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, 2012)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Contingent self-esteem</a:t>
                      </a:r>
                    </a:p>
                    <a:p>
                      <a:r>
                        <a:rPr lang="en-US" sz="2500" b="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(Bowles et al., 2013)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331729"/>
                  </a:ext>
                </a:extLst>
              </a:tr>
              <a:tr h="1862821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Reduces arousal and emotional expression in the short-term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Leads to frequent and extreme changes in negative affect (“affect instability”)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Elevated </a:t>
                      </a:r>
                      <a:r>
                        <a:rPr lang="en-US" sz="2500" u="none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AvPD</a:t>
                      </a: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symptoms in individuals with high shame-proneness when shame-aversion was high but not when shame aversion was low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Shame aversion is likely the maladaptive response rather than the trait propensity for shame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Those with high </a:t>
                      </a:r>
                      <a:r>
                        <a:rPr lang="en-US" sz="2500" u="none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AvPD</a:t>
                      </a: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features perceived themselves and others negatively when subtly criticized but not when receiving unambiguous support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u="none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AvPD</a:t>
                      </a:r>
                      <a:r>
                        <a:rPr lang="en-US" sz="2500" u="none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may be associated with a maladaptively contingent rather than rigidly negative self and other concept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538828"/>
                  </a:ext>
                </a:extLst>
              </a:tr>
            </a:tbl>
          </a:graphicData>
        </a:graphic>
      </p:graphicFrame>
      <p:graphicFrame>
        <p:nvGraphicFramePr>
          <p:cNvPr id="3153" name="Table 3152">
            <a:extLst>
              <a:ext uri="{FF2B5EF4-FFF2-40B4-BE49-F238E27FC236}">
                <a16:creationId xmlns:a16="http://schemas.microsoft.com/office/drawing/2014/main" id="{585DD8E7-7A7B-2F75-6693-A7AA3048B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990118"/>
              </p:ext>
            </p:extLst>
          </p:nvPr>
        </p:nvGraphicFramePr>
        <p:xfrm>
          <a:off x="12166155" y="27096300"/>
          <a:ext cx="20041044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0261">
                  <a:extLst>
                    <a:ext uri="{9D8B030D-6E8A-4147-A177-3AD203B41FA5}">
                      <a16:colId xmlns:a16="http://schemas.microsoft.com/office/drawing/2014/main" val="372445995"/>
                    </a:ext>
                  </a:extLst>
                </a:gridCol>
                <a:gridCol w="5010261">
                  <a:extLst>
                    <a:ext uri="{9D8B030D-6E8A-4147-A177-3AD203B41FA5}">
                      <a16:colId xmlns:a16="http://schemas.microsoft.com/office/drawing/2014/main" val="3601472452"/>
                    </a:ext>
                  </a:extLst>
                </a:gridCol>
                <a:gridCol w="5010261">
                  <a:extLst>
                    <a:ext uri="{9D8B030D-6E8A-4147-A177-3AD203B41FA5}">
                      <a16:colId xmlns:a16="http://schemas.microsoft.com/office/drawing/2014/main" val="2667737292"/>
                    </a:ext>
                  </a:extLst>
                </a:gridCol>
                <a:gridCol w="5010261">
                  <a:extLst>
                    <a:ext uri="{9D8B030D-6E8A-4147-A177-3AD203B41FA5}">
                      <a16:colId xmlns:a16="http://schemas.microsoft.com/office/drawing/2014/main" val="66244967"/>
                    </a:ext>
                  </a:extLst>
                </a:gridCol>
              </a:tblGrid>
              <a:tr h="59594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Acceptance and commitment therapy 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(Chan et al., 2015)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Emotion-focused therapy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(Pos, 2014)</a:t>
                      </a:r>
                      <a:endParaRPr lang="en-US" sz="2500" b="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4388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Metacognitive interpersonal therapy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(</a:t>
                      </a:r>
                      <a:r>
                        <a:rPr lang="it-IT" sz="25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Centonze et al., 2021; Dimaggio et al., 2007)</a:t>
                      </a:r>
                      <a:endParaRPr lang="en-US" sz="2500" b="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4388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Schema therapy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 (Bachrach &amp; </a:t>
                      </a:r>
                      <a:r>
                        <a:rPr lang="en-US" sz="2500" b="0" dirty="0" err="1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Arntz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</a:rPr>
                        <a:t>, 2021)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2500" b="1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301663"/>
                  </a:ext>
                </a:extLst>
              </a:tr>
            </a:tbl>
          </a:graphicData>
        </a:graphic>
      </p:graphicFrame>
      <p:sp>
        <p:nvSpPr>
          <p:cNvPr id="3154" name="Rectangle: Rounded Corners 3153">
            <a:extLst>
              <a:ext uri="{FF2B5EF4-FFF2-40B4-BE49-F238E27FC236}">
                <a16:creationId xmlns:a16="http://schemas.microsoft.com/office/drawing/2014/main" id="{E8C93A55-2BFE-8B0F-27F8-510B8EC2C229}"/>
              </a:ext>
            </a:extLst>
          </p:cNvPr>
          <p:cNvSpPr/>
          <p:nvPr/>
        </p:nvSpPr>
        <p:spPr>
          <a:xfrm>
            <a:off x="12637705" y="28905457"/>
            <a:ext cx="19202400" cy="19988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Improving </a:t>
            </a:r>
            <a:r>
              <a:rPr lang="en-US" sz="3200" b="1" dirty="0">
                <a:solidFill>
                  <a:schemeClr val="tx1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awareness of internal states</a:t>
            </a:r>
            <a:r>
              <a:rPr lang="en-US" sz="3200" dirty="0">
                <a:solidFill>
                  <a:schemeClr val="tx1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, increasing </a:t>
            </a:r>
            <a:r>
              <a:rPr lang="en-US" sz="3200" b="1" dirty="0">
                <a:solidFill>
                  <a:schemeClr val="tx1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tolerance for distress of fear and shame</a:t>
            </a:r>
            <a:r>
              <a:rPr lang="en-US" sz="3200" dirty="0">
                <a:solidFill>
                  <a:schemeClr val="tx1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, and the application of </a:t>
            </a:r>
            <a:r>
              <a:rPr lang="en-US" sz="3200" b="1" dirty="0">
                <a:solidFill>
                  <a:schemeClr val="tx1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experiential techniques</a:t>
            </a:r>
            <a:r>
              <a:rPr lang="en-US" sz="3200" dirty="0">
                <a:solidFill>
                  <a:schemeClr val="tx1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to develop healthy functioning were consistent features of interventions regardless of theoretical orientation</a:t>
            </a:r>
            <a:endParaRPr lang="en-US" sz="3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157" name="Rectangle 3156">
            <a:extLst>
              <a:ext uri="{FF2B5EF4-FFF2-40B4-BE49-F238E27FC236}">
                <a16:creationId xmlns:a16="http://schemas.microsoft.com/office/drawing/2014/main" id="{45A4EEB4-4604-D36C-F62A-EABF93F246B9}"/>
              </a:ext>
            </a:extLst>
          </p:cNvPr>
          <p:cNvSpPr/>
          <p:nvPr/>
        </p:nvSpPr>
        <p:spPr>
          <a:xfrm>
            <a:off x="5362775" y="11119180"/>
            <a:ext cx="5162506" cy="6749918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8" name="TextBox 3157">
            <a:extLst>
              <a:ext uri="{FF2B5EF4-FFF2-40B4-BE49-F238E27FC236}">
                <a16:creationId xmlns:a16="http://schemas.microsoft.com/office/drawing/2014/main" id="{689BCB03-83EF-6F92-5F3F-10553B3D0222}"/>
              </a:ext>
            </a:extLst>
          </p:cNvPr>
          <p:cNvSpPr txBox="1"/>
          <p:nvPr/>
        </p:nvSpPr>
        <p:spPr>
          <a:xfrm>
            <a:off x="5759015" y="17390593"/>
            <a:ext cx="4869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rebuchet MS" panose="020B0603020202020204" pitchFamily="34" charset="0"/>
              </a:rPr>
              <a:t>Image source: https://www.youtube.com/watch?v=eRrzZwgBafc</a:t>
            </a:r>
          </a:p>
        </p:txBody>
      </p:sp>
      <p:pic>
        <p:nvPicPr>
          <p:cNvPr id="3159" name="Picture 3158">
            <a:extLst>
              <a:ext uri="{FF2B5EF4-FFF2-40B4-BE49-F238E27FC236}">
                <a16:creationId xmlns:a16="http://schemas.microsoft.com/office/drawing/2014/main" id="{3E2E030A-63CC-E9C3-1F2F-A1EB77D9C58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5136" b="92977" l="10000" r="93733">
                        <a14:foregroundMark x1="20600" y1="44864" x2="74667" y2="74319"/>
                        <a14:foregroundMark x1="61533" y1="89203" x2="85133" y2="20650"/>
                        <a14:foregroundMark x1="74467" y1="9119" x2="74667" y2="63941"/>
                        <a14:foregroundMark x1="74667" y1="63941" x2="83067" y2="95493"/>
                        <a14:foregroundMark x1="83067" y1="95493" x2="76533" y2="92977"/>
                        <a14:foregroundMark x1="76533" y1="92977" x2="76733" y2="86478"/>
                        <a14:foregroundMark x1="46800" y1="23166" x2="46800" y2="23166"/>
                        <a14:foregroundMark x1="46800" y1="23166" x2="59267" y2="26415"/>
                        <a14:foregroundMark x1="47867" y1="33333" x2="67933" y2="39099"/>
                        <a14:foregroundMark x1="67933" y1="39099" x2="68533" y2="39937"/>
                        <a14:foregroundMark x1="25467" y1="52830" x2="29933" y2="61111"/>
                        <a14:foregroundMark x1="29933" y1="61111" x2="30200" y2="61426"/>
                        <a14:foregroundMark x1="32667" y1="83962" x2="35600" y2="86478"/>
                        <a14:foregroundMark x1="71333" y1="6709" x2="72000" y2="5241"/>
                        <a14:foregroundMark x1="92467" y1="46646" x2="93733" y2="49057"/>
                        <a14:foregroundMark x1="91600" y1="65618" x2="89533" y2="74633"/>
                        <a14:foregroundMark x1="87733" y1="75786" x2="86200" y2="83229"/>
                        <a14:foregroundMark x1="36467" y1="85954" x2="41933" y2="86268"/>
                        <a14:foregroundMark x1="41400" y1="87107" x2="44733" y2="87631"/>
                        <a14:foregroundMark x1="29667" y1="18029" x2="28467" y2="30713"/>
                        <a14:foregroundMark x1="52933" y1="17715" x2="59600" y2="17820"/>
                        <a14:foregroundMark x1="59600" y1="17820" x2="62800" y2="25996"/>
                        <a14:foregroundMark x1="62800" y1="25996" x2="63467" y2="31447"/>
                        <a14:foregroundMark x1="65200" y1="40252" x2="68000" y2="47694"/>
                        <a14:backgroundMark x1="4467" y1="93606" x2="18067" y2="93082"/>
                        <a14:backgroundMark x1="18067" y1="93082" x2="18800" y2="930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090941" y="8992252"/>
            <a:ext cx="3833818" cy="2438308"/>
          </a:xfrm>
          <a:prstGeom prst="rect">
            <a:avLst/>
          </a:prstGeom>
        </p:spPr>
      </p:pic>
      <p:sp>
        <p:nvSpPr>
          <p:cNvPr id="3082" name="Text Placeholder 12">
            <a:extLst>
              <a:ext uri="{FF2B5EF4-FFF2-40B4-BE49-F238E27FC236}">
                <a16:creationId xmlns:a16="http://schemas.microsoft.com/office/drawing/2014/main" id="{912F73DB-D31C-4336-CAD0-49F55C537E7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auto">
          <a:xfrm>
            <a:off x="33145412" y="6010622"/>
            <a:ext cx="10201275" cy="373638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anchor="t" anchorCtr="0" compatLnSpc="1">
            <a:prstTxWarp prst="textNoShape">
              <a:avLst/>
            </a:prstTxWarp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Predominant </a:t>
            </a:r>
            <a:r>
              <a:rPr lang="en-US" altLang="en-US" sz="2800" b="1" dirty="0">
                <a:solidFill>
                  <a:schemeClr val="accent3">
                    <a:lumMod val="75000"/>
                  </a:schemeClr>
                </a:solidFill>
              </a:rPr>
              <a:t>focus of the empirical literature is on understanding the attributes </a:t>
            </a:r>
            <a:r>
              <a:rPr lang="en-US" altLang="en-US" sz="2800" dirty="0"/>
              <a:t>of those with </a:t>
            </a:r>
            <a:r>
              <a:rPr lang="en-US" altLang="en-US" sz="2800" dirty="0" err="1"/>
              <a:t>AvPD</a:t>
            </a:r>
            <a:endParaRPr lang="en-US" altLang="en-US" sz="28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Further study is necessary to better identify, understand, and learn </a:t>
            </a:r>
            <a:r>
              <a:rPr lang="en-US" altLang="en-US" sz="2800" b="1" dirty="0">
                <a:solidFill>
                  <a:schemeClr val="accent3">
                    <a:lumMod val="75000"/>
                  </a:schemeClr>
                </a:solidFill>
              </a:rPr>
              <a:t>how to overcome maladaptive responses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Outcome research is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primarily case-based</a:t>
            </a:r>
          </a:p>
          <a:p>
            <a:pPr marL="342900" indent="-342900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Large scale, randomized controlled trials are needed 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rigorously test interventions </a:t>
            </a:r>
          </a:p>
        </p:txBody>
      </p:sp>
      <p:sp>
        <p:nvSpPr>
          <p:cNvPr id="3161" name="Text Placeholder 12">
            <a:extLst>
              <a:ext uri="{FF2B5EF4-FFF2-40B4-BE49-F238E27FC236}">
                <a16:creationId xmlns:a16="http://schemas.microsoft.com/office/drawing/2014/main" id="{B517DCC1-B3B0-D67C-CF3C-F0967F2DB455}"/>
              </a:ext>
            </a:extLst>
          </p:cNvPr>
          <p:cNvSpPr txBox="1">
            <a:spLocks/>
          </p:cNvSpPr>
          <p:nvPr/>
        </p:nvSpPr>
        <p:spPr bwMode="auto">
          <a:xfrm>
            <a:off x="33142011" y="9309796"/>
            <a:ext cx="6470394" cy="218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Further exploration into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individual versus group therapy 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is essential given that social impairment is a defining construct of </a:t>
            </a:r>
            <a:r>
              <a:rPr lang="en-US" sz="2800" dirty="0" err="1">
                <a:ea typeface="Calibri" panose="020F0502020204030204" pitchFamily="34" charset="0"/>
                <a:cs typeface="Times New Roman" panose="02020603050405020304" pitchFamily="18" charset="0"/>
              </a:rPr>
              <a:t>AvPD</a:t>
            </a:r>
            <a:endParaRPr lang="en-US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62" name="TextBox 3161">
            <a:extLst>
              <a:ext uri="{FF2B5EF4-FFF2-40B4-BE49-F238E27FC236}">
                <a16:creationId xmlns:a16="http://schemas.microsoft.com/office/drawing/2014/main" id="{6CB00FFA-A465-A8B1-D059-AE4B7C8ADE4B}"/>
              </a:ext>
            </a:extLst>
          </p:cNvPr>
          <p:cNvSpPr txBox="1"/>
          <p:nvPr/>
        </p:nvSpPr>
        <p:spPr>
          <a:xfrm>
            <a:off x="38780305" y="11362363"/>
            <a:ext cx="4566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rebuchet MS" panose="020B0603020202020204" pitchFamily="34" charset="0"/>
              </a:rPr>
              <a:t>Image source: https://www.uxtweak.com/evaluation-research/</a:t>
            </a:r>
          </a:p>
        </p:txBody>
      </p:sp>
      <p:sp>
        <p:nvSpPr>
          <p:cNvPr id="3163" name="Speech Bubble: Rectangle with Corners Rounded 3162">
            <a:extLst>
              <a:ext uri="{FF2B5EF4-FFF2-40B4-BE49-F238E27FC236}">
                <a16:creationId xmlns:a16="http://schemas.microsoft.com/office/drawing/2014/main" id="{2131C774-A249-9ACF-74B6-A628D2A9ECF9}"/>
              </a:ext>
            </a:extLst>
          </p:cNvPr>
          <p:cNvSpPr/>
          <p:nvPr/>
        </p:nvSpPr>
        <p:spPr>
          <a:xfrm>
            <a:off x="11906352" y="7205036"/>
            <a:ext cx="8397170" cy="2729611"/>
          </a:xfrm>
          <a:prstGeom prst="wedgeRoundRectCallout">
            <a:avLst>
              <a:gd name="adj1" fmla="val -35161"/>
              <a:gd name="adj2" fmla="val 66800"/>
              <a:gd name="adj3" fmla="val 1666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i="1" dirty="0">
                <a:latin typeface="Trebuchet MS" panose="020B0603020202020204" pitchFamily="34" charset="0"/>
              </a:rPr>
              <a:t>The dialectics of longing for and fearing closeness and longing for and fearing solitude are key drivers of psychological distress</a:t>
            </a:r>
            <a:r>
              <a:rPr lang="en-US" altLang="en-US" sz="3200" dirty="0">
                <a:latin typeface="Trebuchet MS" panose="020B0603020202020204" pitchFamily="34" charset="0"/>
              </a:rPr>
              <a:t> </a:t>
            </a:r>
            <a:r>
              <a:rPr lang="en-US" altLang="en-US" sz="2500" dirty="0">
                <a:latin typeface="Trebuchet MS" panose="020B0603020202020204" pitchFamily="34" charset="0"/>
              </a:rPr>
              <a:t>(</a:t>
            </a:r>
            <a:r>
              <a:rPr lang="en-US" altLang="en-US" sz="2500" dirty="0" err="1">
                <a:latin typeface="Trebuchet MS" panose="020B0603020202020204" pitchFamily="34" charset="0"/>
              </a:rPr>
              <a:t>Sørensen</a:t>
            </a:r>
            <a:r>
              <a:rPr lang="en-US" altLang="en-US" sz="2500" dirty="0">
                <a:latin typeface="Trebuchet MS" panose="020B0603020202020204" pitchFamily="34" charset="0"/>
              </a:rPr>
              <a:t> et al., 2019)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3164" name="Text Placeholder 3163">
            <a:extLst>
              <a:ext uri="{FF2B5EF4-FFF2-40B4-BE49-F238E27FC236}">
                <a16:creationId xmlns:a16="http://schemas.microsoft.com/office/drawing/2014/main" id="{61E2061E-C920-D0A5-8992-155CF831A256}"/>
              </a:ext>
            </a:extLst>
          </p:cNvPr>
          <p:cNvSpPr>
            <a:spLocks noGrp="1"/>
          </p:cNvSpPr>
          <p:nvPr>
            <p:ph type="body" sz="quarter" idx="1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27" name="Text Placeholder 2">
            <a:extLst>
              <a:ext uri="{FF2B5EF4-FFF2-40B4-BE49-F238E27FC236}">
                <a16:creationId xmlns:a16="http://schemas.microsoft.com/office/drawing/2014/main" id="{109A7D85-F5BB-E213-BF64-ACA5FF21C34C}"/>
              </a:ext>
            </a:extLst>
          </p:cNvPr>
          <p:cNvSpPr txBox="1">
            <a:spLocks/>
          </p:cNvSpPr>
          <p:nvPr/>
        </p:nvSpPr>
        <p:spPr bwMode="auto">
          <a:xfrm>
            <a:off x="557530" y="11035831"/>
            <a:ext cx="10196513" cy="696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589" tIns="228589" rIns="228589" bIns="228589" numCol="1" anchor="t" anchorCtr="0" compatLnSpc="1">
            <a:prstTxWarp prst="textNoShape">
              <a:avLst/>
            </a:prstTxWarp>
            <a:spAutoFit/>
          </a:bodyPr>
          <a:lstStyle>
            <a:lvl1pPr marL="0" indent="0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1485825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2057297" indent="-571471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2685916" indent="-628619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3143093" indent="-457177" algn="l" defTabSz="438785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5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120694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3926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37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2827" indent="-1097226" algn="l" defTabSz="43889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800" dirty="0">
                <a:ea typeface="Calibri" panose="020F0502020204030204" pitchFamily="34" charset="0"/>
              </a:rPr>
              <a:t>Per the Diagnostic and Statistical Manual of Mental Disorders, fifth edition (American Psychiatric Association [APA], 2013), </a:t>
            </a:r>
            <a:r>
              <a:rPr lang="en-US" sz="2800" dirty="0" err="1">
                <a:ea typeface="Calibri" panose="020F0502020204030204" pitchFamily="34" charset="0"/>
              </a:rPr>
              <a:t>AvPD</a:t>
            </a:r>
            <a:r>
              <a:rPr lang="en-US" sz="2800" dirty="0">
                <a:ea typeface="Calibri" panose="020F0502020204030204" pitchFamily="34" charset="0"/>
              </a:rPr>
              <a:t> is characterized by: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</a:rPr>
              <a:t>Persistent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ea typeface="Calibri" panose="020F0502020204030204" pitchFamily="34" charset="0"/>
              </a:rPr>
              <a:t>socially-inhibited behavior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</a:rPr>
              <a:t>An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ea typeface="Calibri" panose="020F0502020204030204" pitchFamily="34" charset="0"/>
              </a:rPr>
              <a:t>inferior self-concept</a:t>
            </a:r>
            <a:endParaRPr lang="en-US" b="1" dirty="0">
              <a:ea typeface="Calibri" panose="020F0502020204030204" pitchFamily="34" charset="0"/>
            </a:endParaRPr>
          </a:p>
          <a:p>
            <a:pPr marL="457200" indent="-457200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a typeface="Calibri" panose="020F0502020204030204" pitchFamily="34" charset="0"/>
              </a:rPr>
              <a:t>Hypersensitivity to</a:t>
            </a:r>
            <a:r>
              <a:rPr lang="en-US" b="1" dirty="0">
                <a:ea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ea typeface="Calibri" panose="020F0502020204030204" pitchFamily="34" charset="0"/>
              </a:rPr>
              <a:t>criticism or rejection</a:t>
            </a:r>
            <a:endParaRPr lang="en-US" b="1" dirty="0">
              <a:ea typeface="Calibri" panose="020F0502020204030204" pitchFamily="34" charset="0"/>
            </a:endParaRPr>
          </a:p>
          <a:p>
            <a:pPr eaLnBrk="1" hangingPunct="1"/>
            <a:r>
              <a:rPr lang="en-US" altLang="en-US" sz="2800" dirty="0">
                <a:ea typeface="Calibri" panose="020F0502020204030204" pitchFamily="34" charset="0"/>
              </a:rPr>
              <a:t>Example diagnostic criteria includes: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“</a:t>
            </a: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Avoids occupational activities </a:t>
            </a:r>
            <a:r>
              <a:rPr lang="en-US" altLang="en-US" dirty="0"/>
              <a:t>that involve significant interpersonal contact because of fears of criticism, disapproval, or rejection” (APA, 2013, p. 672)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“Shows </a:t>
            </a: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restraint within intimate relationships</a:t>
            </a:r>
            <a:r>
              <a:rPr lang="en-US" altLang="en-US" dirty="0"/>
              <a:t> because of the fear of being shamed or ridiculed” (APA, 2013, p. 673)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“Is unusually </a:t>
            </a: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reluctant to take personal risks</a:t>
            </a:r>
            <a:r>
              <a:rPr lang="en-US" altLang="en-US" dirty="0"/>
              <a:t> or to engage in any new activities because they may prove embarrassing” (APA, 2013, p. 673)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Presentations.com-36x48_Trifold_Template-V2b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PosterPresentations.com-36x48_Trifold_Template-V2b</Template>
  <TotalTime>7382</TotalTime>
  <Words>2074</Words>
  <Application>Microsoft Office PowerPoint</Application>
  <PresentationFormat>Custom</PresentationFormat>
  <Paragraphs>146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Trebuchet MS</vt:lpstr>
      <vt:lpstr>Cooper Black</vt:lpstr>
      <vt:lpstr>PosterPresentations.com-36x48_Trifold_Template-V2b</vt:lpstr>
      <vt:lpstr>Affect and Avoidant Personality Disorder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PosterPresentations.com - 510.649.3001</dc:creator>
  <dc:description>This template is the property of PosterPresentations.com. Call us if you need help with this poster template._x000d_
1-866-649-3004           _x000d_
 (c)PosterPresentations.com</dc:description>
  <cp:lastModifiedBy>Joy Johnson</cp:lastModifiedBy>
  <cp:revision>93</cp:revision>
  <dcterms:created xsi:type="dcterms:W3CDTF">2011-11-17T21:52:48Z</dcterms:created>
  <dcterms:modified xsi:type="dcterms:W3CDTF">2023-12-02T15:35:02Z</dcterms:modified>
</cp:coreProperties>
</file>